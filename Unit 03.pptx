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9" r:id="rId2"/>
    <p:sldId id="321" r:id="rId3"/>
    <p:sldId id="322" r:id="rId4"/>
    <p:sldId id="323" r:id="rId5"/>
    <p:sldId id="324" r:id="rId6"/>
    <p:sldId id="32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56B04-4D93-AFCD-8B51-83434EF9E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6B3BA-390A-D1A7-91DC-BCDF6A93C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85F3D-9EB5-1C29-7A0A-EBCF24C4F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FEE5-41B6-4AA8-9D19-43FE99C0793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2CF75-70C7-FC62-B625-C7BC8F2BF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81CB3-9E01-80A8-A557-FB79FA522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FC4B-858E-4622-AB3A-76FAA304E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78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34CF0-402C-0E38-1412-B5FB9CA65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BE167-C362-1A96-24C4-50BE5D26E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58B63-B6DA-4ED0-CF7C-6B490263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FEE5-41B6-4AA8-9D19-43FE99C0793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432EE-9684-FB0E-6201-4399923D8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367CC-515A-51A0-07B1-28551EABA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FC4B-858E-4622-AB3A-76FAA304E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79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85217-781B-5A86-6F01-40473A481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112AE-B82B-611E-0FD8-DA3E0E5E0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B2683-784F-B0AF-32B7-B00DE52BD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FEE5-41B6-4AA8-9D19-43FE99C0793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45578-F32F-90BC-EC23-2C3C4EA93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B9176-EB68-DF9A-33C5-0E67B9724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FC4B-858E-4622-AB3A-76FAA304E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049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3FFA-3E85-357F-8024-73B624744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F2A3A-1776-F305-7188-1D69C74ED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9732E-3CE8-55F3-82CB-C58209AF3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93099-6F31-951A-F7BC-0FF26E5B4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FEE5-41B6-4AA8-9D19-43FE99C0793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25E94-F78D-CAAE-1355-10513B16D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16EE9-CC5D-8B8A-8D30-00EA315F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FC4B-858E-4622-AB3A-76FAA304E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6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AECE4-EB84-B808-591E-4E4004ED9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BB923-E755-3D4B-85FE-13FF9595A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6AB81-2E7C-F374-03B3-DC7ACCCAF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62579-8EDE-E6AD-B313-C12BFEC40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7E373E-22A2-3498-4CA1-2C97A3C159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F736F2-AFFC-774B-C36E-FAFFE80CD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FEE5-41B6-4AA8-9D19-43FE99C0793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5661E8-F469-F1DC-4D5C-005F51EC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BA0984-3477-7DBB-F63A-3C49ABEC6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FC4B-858E-4622-AB3A-76FAA304E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5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78A58-86EC-C44E-AAA5-B483F4893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4DEDD1-5B57-E3C4-37B8-FBE761782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FEE5-41B6-4AA8-9D19-43FE99C0793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AD8B7B-00F3-D7F9-6201-777559B77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DEF34-5979-4CA6-FB8B-500D135E3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FC4B-858E-4622-AB3A-76FAA304E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53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5166A9-6B87-118C-24EF-78A32EB11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FEE5-41B6-4AA8-9D19-43FE99C0793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72667-190D-6913-B3B1-D343C629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1E65E-42A1-8492-B9E4-01B6B8E48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FC4B-858E-4622-AB3A-76FAA304E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7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F6513-F1AC-C294-0FE8-597D7FFBD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58B8-E2FB-45EF-06EE-02BE08683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160DC-EBAF-0A33-DC03-A5E246DFD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E717D-93FA-4347-79C8-5CB8387DF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FEE5-41B6-4AA8-9D19-43FE99C0793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A945A-907F-0D34-839D-1139403ED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F96E4-1B0E-CE5B-3C4D-8BA492E5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FC4B-858E-4622-AB3A-76FAA304E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76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D658A-0432-CF47-1979-0778B4B3A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4D6280-9D9F-64D2-3BBC-955084A18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DD0BE-829F-75B4-FD7C-D5882D78A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92D78-21C5-76C1-0310-BC25D6F1D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FEE5-41B6-4AA8-9D19-43FE99C0793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EBA3A-E0C6-0A39-5D63-B8AB8387E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3BB2F-EABD-8C79-73D5-0144F747B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FC4B-858E-4622-AB3A-76FAA304E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746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4EC9-433E-ED03-231D-05A7F379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2A726-A670-5600-DDF8-88BEEE33A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F75F7-1AC5-C786-6E56-2265DD7D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FEE5-41B6-4AA8-9D19-43FE99C0793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006A3-FD49-3319-6966-132911305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DDCD5-C9A9-0B62-824F-05366CF34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FC4B-858E-4622-AB3A-76FAA304E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722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D14EF1-D9E3-D7CD-E0BD-2A9606B76C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6C7B9-AF18-3993-CF31-AF684D09D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1D385-DF87-376A-EA02-846B75B4E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FEE5-41B6-4AA8-9D19-43FE99C0793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7A249-94A7-7A9A-2B75-A0B631036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46483-388D-0F82-889C-552F27AC3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2FC4B-858E-4622-AB3A-76FAA304E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7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8630F8-2D07-AB60-4D5B-FBAB63C7F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E891B-805D-F443-0F5A-569D138FD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0D2EB-2CC1-CE5C-D449-B2F311283A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7BFEE5-41B6-4AA8-9D19-43FE99C0793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838A8-B07E-2DA6-29C6-C5A86203F6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2FEE9-9775-E498-770E-95D24DD99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62FC4B-858E-4622-AB3A-76FAA304E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823DC-8371-8558-466C-35E0C5EB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98700F8F-F005-E2E9-EDC9-A2297BE2E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869C706-7400-867B-8DF9-7FC3D5E65EDD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0996EB-FB6C-FEB0-1902-54E6A1A84742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B042C5-68DC-AAEF-DD50-6F291832816D}"/>
              </a:ext>
            </a:extLst>
          </p:cNvPr>
          <p:cNvSpPr txBox="1"/>
          <p:nvPr/>
        </p:nvSpPr>
        <p:spPr>
          <a:xfrm>
            <a:off x="563751" y="309282"/>
            <a:ext cx="639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Integrals  </a:t>
            </a:r>
            <a:endParaRPr lang="en-US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899714-0BA4-F52F-2D6D-72E2C58DAA10}"/>
              </a:ext>
            </a:extLst>
          </p:cNvPr>
          <p:cNvSpPr txBox="1"/>
          <p:nvPr/>
        </p:nvSpPr>
        <p:spPr>
          <a:xfrm>
            <a:off x="563751" y="816199"/>
            <a:ext cx="9928601" cy="73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single integral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adds up quantities along a line. A double integral adds up quantities over an area. A triple integral adds up quantities throughout a volume..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rea under a Curve - Higher Mathematics">
            <a:extLst>
              <a:ext uri="{FF2B5EF4-FFF2-40B4-BE49-F238E27FC236}">
                <a16:creationId xmlns:a16="http://schemas.microsoft.com/office/drawing/2014/main" id="{0787BE53-B6B2-1884-9BE6-88034A111F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50" t="-1564"/>
          <a:stretch>
            <a:fillRect/>
          </a:stretch>
        </p:blipFill>
        <p:spPr>
          <a:xfrm>
            <a:off x="1304277" y="1986124"/>
            <a:ext cx="2747348" cy="1770333"/>
          </a:xfrm>
          <a:prstGeom prst="rect">
            <a:avLst/>
          </a:prstGeom>
        </p:spPr>
      </p:pic>
      <p:pic>
        <p:nvPicPr>
          <p:cNvPr id="9" name="Picture 8" descr="integration - Proof that the area under a curve is the definite integral, without the fundamental theorem of calculus - Mathematics Stack Exchange">
            <a:extLst>
              <a:ext uri="{FF2B5EF4-FFF2-40B4-BE49-F238E27FC236}">
                <a16:creationId xmlns:a16="http://schemas.microsoft.com/office/drawing/2014/main" id="{E2B11EBA-44C5-4C45-96EB-8ADE88A3FE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255" t="-30" r="13666" b="18049"/>
          <a:stretch>
            <a:fillRect/>
          </a:stretch>
        </p:blipFill>
        <p:spPr>
          <a:xfrm>
            <a:off x="7069394" y="1809134"/>
            <a:ext cx="4326193" cy="261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4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2A634-B492-2568-70A5-E888A8665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79BC66CD-CFB8-0405-FAFF-1923C10F6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F456FE0-07CA-AE9F-9FE4-E0F9FCA905C7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5FE6B6-3CDD-A876-B192-5360440682EA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720B90-BDE9-BF41-C5EB-1FDA71F4ED08}"/>
                  </a:ext>
                </a:extLst>
              </p:cNvPr>
              <p:cNvSpPr txBox="1"/>
              <p:nvPr/>
            </p:nvSpPr>
            <p:spPr>
              <a:xfrm>
                <a:off x="267349" y="204277"/>
                <a:ext cx="9984658" cy="2005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US" sz="24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Fundamental Idea of a Double Integral</a:t>
                </a:r>
              </a:p>
              <a:p>
                <a:pPr algn="just">
                  <a:buNone/>
                </a:pP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 we have a surface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above a region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-plane.</a:t>
                </a:r>
              </a:p>
              <a:p>
                <a:pPr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double integral  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 </m:t>
                    </m:r>
                    <m:borderBox>
                      <m:borderBox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nary>
                          <m:naryPr>
                            <m:chr m:val="∬"/>
                            <m:sup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nary>
                        <m:r>
                          <m:rPr>
                            <m:nor/>
                          </m:rPr>
                          <a:rPr lang="en-US" sz="2400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(x, y)</m:t>
                        </m:r>
                        <m:r>
                          <m:rPr>
                            <m:nor/>
                          </m:rPr>
                          <a:rPr lang="en-US" sz="2400" b="0" i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 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𝑑𝐴</m:t>
                        </m:r>
                      </m:e>
                    </m:borderBox>
                  </m:oMath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720B90-BDE9-BF41-C5EB-1FDA71F4E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49" y="204277"/>
                <a:ext cx="9984658" cy="2005870"/>
              </a:xfrm>
              <a:prstGeom prst="rect">
                <a:avLst/>
              </a:prstGeom>
              <a:blipFill>
                <a:blip r:embed="rId3"/>
                <a:stretch>
                  <a:fillRect l="-977" t="-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Double Integral - GeeksforGeeks">
            <a:extLst>
              <a:ext uri="{FF2B5EF4-FFF2-40B4-BE49-F238E27FC236}">
                <a16:creationId xmlns:a16="http://schemas.microsoft.com/office/drawing/2014/main" id="{6EBE0302-C8BA-2FF6-2A02-FD6C2DD78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897" y="1312354"/>
            <a:ext cx="4011562" cy="31423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665A7B-F85C-6DF6-5E3C-E82A4A57F8D7}"/>
                  </a:ext>
                </a:extLst>
              </p:cNvPr>
              <p:cNvSpPr txBox="1"/>
              <p:nvPr/>
            </p:nvSpPr>
            <p:spPr>
              <a:xfrm>
                <a:off x="267349" y="2200978"/>
                <a:ext cx="534383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represents the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volume under the surface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above the region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665A7B-F85C-6DF6-5E3C-E82A4A57F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49" y="2200978"/>
                <a:ext cx="5343834" cy="830997"/>
              </a:xfrm>
              <a:prstGeom prst="rect">
                <a:avLst/>
              </a:prstGeom>
              <a:blipFill>
                <a:blip r:embed="rId5"/>
                <a:stretch>
                  <a:fillRect l="-1826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491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10A22-2F01-0895-640E-DA333D4AB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7B395483-376A-6483-4086-E12E12EA4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23E584-9A74-0327-6713-99352A751732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101068-B915-EE3E-BB4E-49C7E5A70C4E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68EFB0-B6AD-8337-6A7B-FA01E10915B3}"/>
                  </a:ext>
                </a:extLst>
              </p:cNvPr>
              <p:cNvSpPr txBox="1"/>
              <p:nvPr/>
            </p:nvSpPr>
            <p:spPr>
              <a:xfrm>
                <a:off x="624347" y="504307"/>
                <a:ext cx="9788013" cy="32451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US" sz="24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Fundamental Idea of a Double Integral</a:t>
                </a:r>
              </a:p>
              <a:p>
                <a:pPr algn="just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1: </a:t>
                </a:r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/>
                  <a:t> 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volume under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over the rectangle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≤1,  0≤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≤2.</m:t>
                    </m:r>
                  </m:oMath>
                </a14:m>
                <a:b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region is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nary>
                          <m:naryPr>
                            <m:limLoc m:val="subSup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US" i="1" dirty="0"/>
                </a:br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68EFB0-B6AD-8337-6A7B-FA01E1091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47" y="504307"/>
                <a:ext cx="9788013" cy="3245184"/>
              </a:xfrm>
              <a:prstGeom prst="rect">
                <a:avLst/>
              </a:prstGeom>
              <a:blipFill>
                <a:blip r:embed="rId3"/>
                <a:stretch>
                  <a:fillRect l="-934" t="-1504" b="-12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463BBB9-0ACA-B5F4-B3D5-7E11739D5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81" y="3944516"/>
            <a:ext cx="9057512" cy="132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7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FAF78-8E03-0913-C52C-08F7AB162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A3F25CC9-470A-0730-AC42-234A0D032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B2D3DB0-EB58-03FE-D402-8D42F6D5E3E4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06239A-0B2A-FC06-312E-1E5745757E24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2E98E-241E-B953-FDA3-6F5FDD8D0F82}"/>
              </a:ext>
            </a:extLst>
          </p:cNvPr>
          <p:cNvSpPr txBox="1"/>
          <p:nvPr/>
        </p:nvSpPr>
        <p:spPr>
          <a:xfrm>
            <a:off x="624347" y="504307"/>
            <a:ext cx="97880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Fundamental Idea of a Tripple Integral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B7FADE-EEF1-DB81-348A-AB55F4609DE1}"/>
              </a:ext>
            </a:extLst>
          </p:cNvPr>
          <p:cNvSpPr txBox="1"/>
          <p:nvPr/>
        </p:nvSpPr>
        <p:spPr>
          <a:xfrm>
            <a:off x="624347" y="1140789"/>
            <a:ext cx="10989106" cy="73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triple integral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adds up infinitely many tiny quantities throughout a three-dimensional region (a solid). A double integral works over an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area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A triple integral works over a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volume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D44A1B-C4A7-79F4-BD3C-AE54C68AE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568" y="2170151"/>
            <a:ext cx="3088885" cy="36591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B918BB-8715-F2D8-1FFA-738A6D2188E9}"/>
              </a:ext>
            </a:extLst>
          </p:cNvPr>
          <p:cNvSpPr txBox="1"/>
          <p:nvPr/>
        </p:nvSpPr>
        <p:spPr>
          <a:xfrm>
            <a:off x="667035" y="2037197"/>
            <a:ext cx="2498950" cy="407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general form is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47CD3F3-F15C-92FD-7109-0594852AAE31}"/>
                  </a:ext>
                </a:extLst>
              </p:cNvPr>
              <p:cNvSpPr txBox="1"/>
              <p:nvPr/>
            </p:nvSpPr>
            <p:spPr>
              <a:xfrm>
                <a:off x="3003755" y="1926514"/>
                <a:ext cx="2128684" cy="7830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nary>
                            <m:naryPr>
                              <m:chr m:val="∭"/>
                              <m:limLoc m:val="subSup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nary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borderBox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47CD3F3-F15C-92FD-7109-0594852AA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755" y="1926514"/>
                <a:ext cx="2128684" cy="7830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E57515-CC96-4718-9BEF-451FF9FA337E}"/>
                  </a:ext>
                </a:extLst>
              </p:cNvPr>
              <p:cNvSpPr txBox="1"/>
              <p:nvPr/>
            </p:nvSpPr>
            <p:spPr>
              <a:xfrm>
                <a:off x="722672" y="2868704"/>
                <a:ext cx="610583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is a three-dimensional region and 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𝑑𝑉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𝑑𝑥</m:t>
                    </m:r>
                    <m:r>
                      <m:rPr>
                        <m:nor/>
                      </m:rPr>
                      <a:rPr lang="en-US" sz="1600" i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rPr>
                      <m:t> 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𝑑𝑦</m:t>
                    </m:r>
                    <m:r>
                      <m:rPr>
                        <m:nor/>
                      </m:rPr>
                      <a:rPr lang="en-US" sz="1600" i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rPr>
                      <m:t> 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𝑑𝑧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E57515-CC96-4718-9BEF-451FF9FA3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72" y="2868704"/>
                <a:ext cx="6105832" cy="338554"/>
              </a:xfrm>
              <a:prstGeom prst="rect">
                <a:avLst/>
              </a:prstGeom>
              <a:blipFill>
                <a:blip r:embed="rId5"/>
                <a:stretch>
                  <a:fillRect l="-599" t="-7273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323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4B6F0-6347-9B66-D8F2-4C4034B79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6E70F373-4F00-2C99-1628-20332FFEF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BA9AF2F-8126-5005-928C-C48A487210A4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35AD53-AA62-F47C-3247-C672D267DF4C}"/>
              </a:ext>
            </a:extLst>
          </p:cNvPr>
          <p:cNvSpPr txBox="1"/>
          <p:nvPr/>
        </p:nvSpPr>
        <p:spPr>
          <a:xfrm>
            <a:off x="267349" y="1087913"/>
            <a:ext cx="10145011" cy="5442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4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F1D09A-4B20-649A-1169-E77818BCB95B}"/>
              </a:ext>
            </a:extLst>
          </p:cNvPr>
          <p:cNvSpPr txBox="1"/>
          <p:nvPr/>
        </p:nvSpPr>
        <p:spPr>
          <a:xfrm>
            <a:off x="267349" y="22526"/>
            <a:ext cx="97880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Fundamental Idea of a Tripple Integral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8606FF-C87C-A749-BFC5-DCB29A861D57}"/>
              </a:ext>
            </a:extLst>
          </p:cNvPr>
          <p:cNvSpPr txBox="1"/>
          <p:nvPr/>
        </p:nvSpPr>
        <p:spPr>
          <a:xfrm>
            <a:off x="421266" y="2131994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rectangular box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CC654B-9E34-A317-DBE6-ECAC6D1B6567}"/>
                  </a:ext>
                </a:extLst>
              </p:cNvPr>
              <p:cNvSpPr txBox="1"/>
              <p:nvPr/>
            </p:nvSpPr>
            <p:spPr>
              <a:xfrm>
                <a:off x="421266" y="2501326"/>
                <a:ext cx="10145011" cy="672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br>
                  <a:rPr lang="en-US" i="1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Suppose      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0≤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≤2, 0≤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≤3, 0≤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≤4.</m:t>
                    </m:r>
                  </m:oMath>
                </a14:m>
                <a:r>
                  <a:rPr lang="en-US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 solid is a box with dimensions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2×3×4</m:t>
                    </m:r>
                  </m:oMath>
                </a14:m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  Therefore</a:t>
                </a:r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CC654B-9E34-A317-DBE6-ECAC6D1B6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66" y="2501326"/>
                <a:ext cx="10145011" cy="672748"/>
              </a:xfrm>
              <a:prstGeom prst="rect">
                <a:avLst/>
              </a:prstGeom>
              <a:blipFill>
                <a:blip r:embed="rId3"/>
                <a:stretch>
                  <a:fillRect l="-481" b="-11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61D3B8-115F-6A2D-0CE3-72773DD33B24}"/>
                  </a:ext>
                </a:extLst>
              </p:cNvPr>
              <p:cNvSpPr txBox="1"/>
              <p:nvPr/>
            </p:nvSpPr>
            <p:spPr>
              <a:xfrm>
                <a:off x="555522" y="3174074"/>
                <a:ext cx="2667580" cy="12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en-US" i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nary>
                            <m:naryPr>
                              <m:limLoc m:val="undOvr"/>
                              <m:ctrlPr>
                                <a:rPr lang="en-US" i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nary>
                                <m:naryPr>
                                  <m:limLoc m:val="undOvr"/>
                                  <m:ctrlPr>
                                    <a:rPr lang="en-US" i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  <m:e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  <m:r>
                        <m:rPr>
                          <m:nor/>
                        </m:rPr>
                        <a:rPr lang="en-US" b="0" i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𝑑𝑧</m:t>
                      </m:r>
                      <m:r>
                        <m:rPr>
                          <m:nor/>
                        </m:rPr>
                        <a:rPr lang="en-US" b="0" i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m:rPr>
                          <m:nor/>
                        </m:rPr>
                        <a:rPr lang="en-US" b="0" i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61D3B8-115F-6A2D-0CE3-72773DD33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22" y="3174074"/>
                <a:ext cx="2667580" cy="12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2E3BD0AE-11E6-11EF-4DE6-06F13C5344B3}"/>
              </a:ext>
            </a:extLst>
          </p:cNvPr>
          <p:cNvSpPr txBox="1"/>
          <p:nvPr/>
        </p:nvSpPr>
        <p:spPr>
          <a:xfrm>
            <a:off x="555522" y="830613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Triple Integral of 1 Gives Volume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4BC49A-19E2-D2D6-7708-65F84D1DCC84}"/>
              </a:ext>
            </a:extLst>
          </p:cNvPr>
          <p:cNvSpPr txBox="1"/>
          <p:nvPr/>
        </p:nvSpPr>
        <p:spPr>
          <a:xfrm>
            <a:off x="555522" y="1457245"/>
            <a:ext cx="1528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=1,</a:t>
            </a:r>
          </a:p>
        </p:txBody>
      </p:sp>
    </p:spTree>
    <p:extLst>
      <p:ext uri="{BB962C8B-B14F-4D97-AF65-F5344CB8AC3E}">
        <p14:creationId xmlns:p14="http://schemas.microsoft.com/office/powerpoint/2010/main" val="31780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87A93-439B-E155-343A-C075A328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09A80630-4FAA-6E77-D39B-9C147AB16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D0837E-F79F-8FC8-BA5B-E0756DD9D44B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7097C-AE17-1086-9C33-44E66B044FC0}"/>
              </a:ext>
            </a:extLst>
          </p:cNvPr>
          <p:cNvSpPr txBox="1"/>
          <p:nvPr/>
        </p:nvSpPr>
        <p:spPr>
          <a:xfrm>
            <a:off x="267349" y="1087913"/>
            <a:ext cx="10145011" cy="5442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4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255FAD-ED7E-4419-BFEE-4EF9DEDD4B94}"/>
              </a:ext>
            </a:extLst>
          </p:cNvPr>
          <p:cNvSpPr txBox="1"/>
          <p:nvPr/>
        </p:nvSpPr>
        <p:spPr>
          <a:xfrm>
            <a:off x="555522" y="830613"/>
            <a:ext cx="64647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from a Point to a Plane :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PN is the shortest or perpendicular from point P to the plane. 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 of the Perpendicular: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N is the foot of perpendicular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C14C9D-BABE-A78F-095F-C45E99D75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532" y="668511"/>
            <a:ext cx="3551228" cy="24538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057220-D89E-F80F-F90B-2F3447151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074" y="3821251"/>
            <a:ext cx="6439458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998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287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Amasis MT Pro</vt:lpstr>
      <vt:lpstr>Aptos</vt:lpstr>
      <vt:lpstr>Aptos Display</vt:lpstr>
      <vt:lpstr>Arial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Jashodhan Saha</dc:creator>
  <cp:lastModifiedBy>Jashodhan Saha</cp:lastModifiedBy>
  <cp:revision>6</cp:revision>
  <dcterms:created xsi:type="dcterms:W3CDTF">2026-08-11T16:07:35Z</dcterms:created>
  <dcterms:modified xsi:type="dcterms:W3CDTF">2026-08-20T03:21:22Z</dcterms:modified>
</cp:coreProperties>
</file>