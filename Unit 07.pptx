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3" r:id="rId2"/>
    <p:sldId id="344" r:id="rId3"/>
    <p:sldId id="345" r:id="rId4"/>
    <p:sldId id="346" r:id="rId5"/>
    <p:sldId id="348" r:id="rId6"/>
    <p:sldId id="347" r:id="rId7"/>
    <p:sldId id="349" r:id="rId8"/>
    <p:sldId id="350" r:id="rId9"/>
    <p:sldId id="351" r:id="rId10"/>
    <p:sldId id="352" r:id="rId11"/>
    <p:sldId id="353" r:id="rId12"/>
    <p:sldId id="354" r:id="rId13"/>
    <p:sldId id="35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D215-F003-53F9-4D52-50FDAD29F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68D77-63C0-2171-A375-5595FD297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5DD4B-9FC7-6F19-EF45-EE51EACC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E8824-1AF0-1F6D-E64A-554283389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D12-90EC-8B26-B0EF-D1D280DF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0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AF04-8B57-3DBF-B646-F9F5286A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5805-F6B5-4A28-F0AA-8E1EC7C71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292BB-3C36-BFA3-9BD0-014BD23B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39C84-DF77-83A6-FA51-C821FF58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DE567-F10F-F4FC-74F7-0FA10A00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0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BE83-69C0-FB75-78E2-15F50173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68AE0-EEE0-1A4F-B635-601FC102A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AA478-3BEF-3516-9C3C-EBF70187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9BD69-21D0-2C47-16DB-CD29C282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CA36-EEC7-165F-1DF0-48E3D6CC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9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8B4C-BD66-FB62-76F8-98D08943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41FA0-5689-B2DE-38C6-A815FFF8C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BD40B-E02F-661E-6389-6E901E1E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E9246-A122-ED5E-976A-ABD85F16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F35B1-01AB-EBDF-D8AA-ED839113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2E8C3-17EB-225D-03F6-19170F76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1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5D56-0C0B-4D99-776E-84A8B8F6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6A2AD-02EB-A624-FBC2-985B493B5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58A29-4997-7AC4-EAF0-FF2A8D8C1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E3EB2-CE86-14D6-9401-027CB5041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925C9-4EFF-3443-CB36-8F05A737D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05D30-D0C5-BD78-A067-F4DEFA1E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823656-7931-AEF2-FF17-734018CA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7F238-73E7-8AA2-0FE2-62CCD648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1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62FB-00C2-C998-ED17-CC934B60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4B773-0A20-21F9-CD16-5B027EC8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B249F-F4A8-C10A-C83E-900964BC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FBDB4-1422-772D-979B-C8DE5437A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6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B0D78-338B-397F-7184-19A5305A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8F324-E6C4-E39E-B509-ACBC0FC2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2968D-94F5-16C1-D941-7D0FE36A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2696-3BF4-D10B-AB10-9877E2D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EE936-DE68-ECC4-FC54-02FEC4F4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ADF2B-BF06-AF29-7FC2-A4E5C0523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C12C-C49C-DE56-6008-85EC60B2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3ACC7-84FF-E197-6DDD-44F7C28C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3470F-15A7-C46B-6B5B-2BB5562D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F755-C2C1-4B4D-5036-6219B3B9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66B2F-8A46-A6FA-0940-524457E121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D0B5D-2A74-F3AB-850C-85BAA11B6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E31DD-6958-F408-A8C7-15DF5B90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AE9A5-6CE0-FA53-ACEA-CB0A7375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3639E-3883-F15E-BA34-A3A08D13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9700-108B-C5CF-BA40-D4C8276F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A0BA1-8FF0-4CD2-1099-D1520575A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2580D-C9E5-4C55-34E9-9F09CB081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20C54-830D-2A2C-4E02-279C98D4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342F2-8DCF-412F-8F65-E9F83945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9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FB8C8-5A21-EAD2-42B6-8D0BC1320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D6880-3991-48FF-03BB-810AAA203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2EA80-EE7C-BC70-B88A-439212B3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88E8C-CA68-CB19-9134-B3390765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E0743-7145-300A-3E45-F15DF621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3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E995D0-E627-4992-671B-A3F89882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6AD3E-6F68-3B92-CD03-82AD3B3EE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B4E54-AFBE-9CC9-7F39-6C713ECCE9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92B23-0B93-4715-A06E-C7A986D2B65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235CF-EA88-4D6F-C3EC-6D282A8F0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665BA-5E48-8B2A-05B2-6DF3E32E3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6C097-AA4F-4784-965A-918AF45B1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8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D818-8843-B9CB-6E99-2A629A9D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267545-3693-89CA-DF93-C78241897FDF}"/>
              </a:ext>
            </a:extLst>
          </p:cNvPr>
          <p:cNvSpPr txBox="1"/>
          <p:nvPr/>
        </p:nvSpPr>
        <p:spPr>
          <a:xfrm>
            <a:off x="450720" y="1356852"/>
            <a:ext cx="3636952" cy="3023664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400" b="1" kern="1200" dirty="0">
                <a:solidFill>
                  <a:schemeClr val="accent2"/>
                </a:solidFill>
                <a:latin typeface="Amasis MT Pro" panose="02040504050005020304" pitchFamily="18" charset="0"/>
                <a:ea typeface="+mj-ea"/>
                <a:cs typeface="+mj-cs"/>
              </a:rPr>
              <a:t>Green’s, Stoke’s and Divergence’s Theorem </a:t>
            </a:r>
            <a:endParaRPr lang="en-US" sz="2400" b="1" kern="12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D755968-7E45-3A9E-9C8A-B9BD31B28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52DB8F-E50B-299D-036E-3130A3BC4AA3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9D56F-2591-78AE-F7C8-E4E3CFAC9514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4EFCA-502F-163A-2044-571C75DB3828}"/>
              </a:ext>
            </a:extLst>
          </p:cNvPr>
          <p:cNvSpPr txBox="1"/>
          <p:nvPr/>
        </p:nvSpPr>
        <p:spPr>
          <a:xfrm>
            <a:off x="3836463" y="101956"/>
            <a:ext cx="5046981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3200" b="1" kern="1200" dirty="0">
                <a:solidFill>
                  <a:schemeClr val="accent2"/>
                </a:solidFill>
                <a:latin typeface="Amasis MT Pro" panose="02040504050005020304" pitchFamily="18" charset="0"/>
                <a:ea typeface="+mj-ea"/>
                <a:cs typeface="+mj-cs"/>
              </a:rPr>
              <a:t>Unit 7</a:t>
            </a:r>
          </a:p>
        </p:txBody>
      </p:sp>
      <p:pic>
        <p:nvPicPr>
          <p:cNvPr id="8" name="Picture 7" descr="Vector Calculus Theorems: Applications in Physics and Engineering&quot; | Gavin Hoole B.Eng MEP PGDE MA.ed SEND DipBom MIET IOSH posted on the topic | LinkedIn">
            <a:extLst>
              <a:ext uri="{FF2B5EF4-FFF2-40B4-BE49-F238E27FC236}">
                <a16:creationId xmlns:a16="http://schemas.microsoft.com/office/drawing/2014/main" id="{F52EC9AF-0B9F-BC06-3670-390BA424B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904" y="637487"/>
            <a:ext cx="5236355" cy="548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6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3A1B8-6683-B932-0519-7CE0D82C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3E27A08C-D4FC-DD8B-C8BC-C8606A00E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17C906-1901-2CF4-2372-D5C63E0B6FD7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81D6D-8B67-E1D1-E951-A9AABD06697D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9DEA1C-2B4A-8AF3-1455-CAAB863427A8}"/>
                  </a:ext>
                </a:extLst>
              </p:cNvPr>
              <p:cNvSpPr txBox="1"/>
              <p:nvPr/>
            </p:nvSpPr>
            <p:spPr>
              <a:xfrm>
                <a:off x="694112" y="309282"/>
                <a:ext cx="10455668" cy="4233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b="1" kern="100" dirty="0">
                    <a:solidFill>
                      <a:schemeClr val="accent2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Green’s Theorem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Green's Theorem establishes a powerful connection between a line integral around a simple, closed, piecewise-smooth curve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a double integral over the plane region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bounded by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Mathematical Definition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be a positively oriented (counterclockwise), simple, closed curve in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-plane, and let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be the region bounded by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have continuous partial derivatives on an open region containing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then: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∮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𝑑𝐴</m:t>
                      </m:r>
                    </m:oMath>
                  </m:oMathPara>
                </a14:m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US" kern="100" dirty="0"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9DEA1C-2B4A-8AF3-1455-CAAB86342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2" y="309282"/>
                <a:ext cx="10455668" cy="4233595"/>
              </a:xfrm>
              <a:prstGeom prst="rect">
                <a:avLst/>
              </a:prstGeom>
              <a:blipFill>
                <a:blip r:embed="rId3"/>
                <a:stretch>
                  <a:fillRect l="-641" t="-865" r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94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2398-8B31-A9EC-F8EA-C9278AC61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B8C5C5BE-7FE7-0DD7-6121-6EA76396F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A0AC7A-1FD6-E59F-9EB6-648098E2364A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65F62F-09DD-BE5B-F756-4B602520D6CA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4F6AB0-6625-061F-2C27-C7C175A3D16D}"/>
                  </a:ext>
                </a:extLst>
              </p:cNvPr>
              <p:cNvSpPr txBox="1"/>
              <p:nvPr/>
            </p:nvSpPr>
            <p:spPr>
              <a:xfrm>
                <a:off x="694112" y="309282"/>
                <a:ext cx="10455668" cy="1481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b="1" kern="100" dirty="0">
                    <a:solidFill>
                      <a:schemeClr val="accent2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Green’s Theorem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chemeClr val="accent2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Calculate the line integral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subSup"/>
                        <m:sup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boundary of the square bounded by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traversed counterclockwise.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4F6AB0-6625-061F-2C27-C7C175A3D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2" y="309282"/>
                <a:ext cx="10455668" cy="1481111"/>
              </a:xfrm>
              <a:prstGeom prst="rect">
                <a:avLst/>
              </a:prstGeom>
              <a:blipFill>
                <a:blip r:embed="rId3"/>
                <a:stretch>
                  <a:fillRect l="-641" t="-2469" r="-466" b="-34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F8E67C-CBB2-F465-1F1D-40CDFED7437E}"/>
                  </a:ext>
                </a:extLst>
              </p:cNvPr>
              <p:cNvSpPr txBox="1"/>
              <p:nvPr/>
            </p:nvSpPr>
            <p:spPr>
              <a:xfrm>
                <a:off x="694112" y="2243490"/>
                <a:ext cx="8106697" cy="1203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Evaluate over the region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1−2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F8E67C-CBB2-F465-1F1D-40CDFED74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2" y="2243490"/>
                <a:ext cx="8106697" cy="1203984"/>
              </a:xfrm>
              <a:prstGeom prst="rect">
                <a:avLst/>
              </a:prstGeom>
              <a:blipFill>
                <a:blip r:embed="rId4"/>
                <a:stretch>
                  <a:fillRect l="-677" t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87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47C3-B011-0104-A0B8-8790CE0E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3E83610-FE25-729B-A097-0EC9C1EBD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4A2D63-7FC4-5D42-3373-FEF41C2BC422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F6822-60B8-67BB-D8AD-D51919D98B0E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4F42A-8AC9-1317-EF15-E3E74061634A}"/>
              </a:ext>
            </a:extLst>
          </p:cNvPr>
          <p:cNvSpPr txBox="1"/>
          <p:nvPr/>
        </p:nvSpPr>
        <p:spPr>
          <a:xfrm>
            <a:off x="694112" y="309282"/>
            <a:ext cx="10072211" cy="779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Green’s Theorem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 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AF53CF-4B11-A2BE-FCE5-25A85BC4D87B}"/>
                  </a:ext>
                </a:extLst>
              </p:cNvPr>
              <p:cNvSpPr txBox="1"/>
              <p:nvPr/>
            </p:nvSpPr>
            <p:spPr>
              <a:xfrm>
                <a:off x="694111" y="1358945"/>
                <a:ext cx="10848959" cy="3903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Evaluate the line integral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subSup"/>
                        <m:sup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𝑥𝑦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counterclockwise boundary of the triangle with vertices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∮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𝑑𝐴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𝑑𝐴</m:t>
                      </m:r>
                    </m:oMath>
                  </m:oMathPara>
                </a14:m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Define Bounds for Region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line connecting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and for a given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Evaluate Integral: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𝑑𝑥</m:t>
                      </m:r>
                    </m:oMath>
                  </m:oMathPara>
                </a14:m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AF53CF-4B11-A2BE-FCE5-25A85BC4D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1" y="1358945"/>
                <a:ext cx="10848959" cy="3903847"/>
              </a:xfrm>
              <a:prstGeom prst="rect">
                <a:avLst/>
              </a:prstGeom>
              <a:blipFill>
                <a:blip r:embed="rId3"/>
                <a:stretch>
                  <a:fillRect l="-506" t="-13906" r="-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23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3B85-BB32-600D-3F8E-E8D694E4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5A84E72A-88DB-A9FA-F1E9-8486CAA26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ADF3E1-48F4-0142-3E4F-2226D5C68175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B206FA-62DD-6C1A-E5BC-0A5D1837E1CD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3E8F1-BE75-5675-3F15-EB6F149C76EC}"/>
              </a:ext>
            </a:extLst>
          </p:cNvPr>
          <p:cNvSpPr txBox="1"/>
          <p:nvPr/>
        </p:nvSpPr>
        <p:spPr>
          <a:xfrm>
            <a:off x="694112" y="309282"/>
            <a:ext cx="10072211" cy="779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Green’s Theorem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5B7B50-B183-F4B2-E81C-11F98B8594BA}"/>
                  </a:ext>
                </a:extLst>
              </p:cNvPr>
              <p:cNvSpPr txBox="1"/>
              <p:nvPr/>
            </p:nvSpPr>
            <p:spPr>
              <a:xfrm>
                <a:off x="694111" y="1358945"/>
                <a:ext cx="10848959" cy="793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Evaluate the line integral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subSup"/>
                        <m:sup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kern="100" smtClean="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kern="100" smtClean="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𝑥𝑦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boundary of the rectangle. 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≤2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Amasis MT Pro" panose="02040504050005020304" pitchFamily="18" charset="0"/>
                  </a:rPr>
                  <a:t>traversed counterclockwise.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5B7B50-B183-F4B2-E81C-11F98B85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11" y="1358945"/>
                <a:ext cx="10848959" cy="793743"/>
              </a:xfrm>
              <a:prstGeom prst="rect">
                <a:avLst/>
              </a:prstGeom>
              <a:blipFill>
                <a:blip r:embed="rId3"/>
                <a:stretch>
                  <a:fillRect l="-506" t="-68462" b="-5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FE8BF5-A698-833A-3C9B-4B19F2B0A83B}"/>
                  </a:ext>
                </a:extLst>
              </p:cNvPr>
              <p:cNvSpPr txBox="1"/>
              <p:nvPr/>
            </p:nvSpPr>
            <p:spPr>
              <a:xfrm>
                <a:off x="4624087" y="235681"/>
                <a:ext cx="3893574" cy="8172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nary>
                        <m:naryPr>
                          <m:chr m:val="∮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 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subSup"/>
                          <m:supHide m:val="on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𝑑𝐴</m:t>
                      </m:r>
                    </m:oMath>
                  </m:oMathPara>
                </a14:m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FE8BF5-A698-833A-3C9B-4B19F2B0A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087" y="235681"/>
                <a:ext cx="3893574" cy="8172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3634D5A-B52C-6E01-A14F-67AEF87111D4}"/>
              </a:ext>
            </a:extLst>
          </p:cNvPr>
          <p:cNvSpPr txBox="1"/>
          <p:nvPr/>
        </p:nvSpPr>
        <p:spPr>
          <a:xfrm>
            <a:off x="694111" y="2312486"/>
            <a:ext cx="1665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2A80C7-555A-76B8-F51C-3D09B9DB153A}"/>
                  </a:ext>
                </a:extLst>
              </p:cNvPr>
              <p:cNvSpPr txBox="1"/>
              <p:nvPr/>
            </p:nvSpPr>
            <p:spPr>
              <a:xfrm>
                <a:off x="648930" y="2881414"/>
                <a:ext cx="10848959" cy="793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Evaluate the line integral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subSup"/>
                        <m:supHide m:val="on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) 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+(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800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kern="100" smtClean="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kern="100" smtClean="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 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𝑑𝑦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boundary of the triangle, with vertices  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0, 0</m:t>
                        </m:r>
                      </m:e>
                    </m:d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d>
                      <m:dPr>
                        <m:ctrlP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2,0</m:t>
                        </m:r>
                      </m:e>
                    </m:d>
                    <m:r>
                      <m:rPr>
                        <m:sty m:val="p"/>
                      </m:rPr>
                      <a:rPr lang="en-US" sz="1800" b="0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(2, 2)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Amasis MT Pro" panose="02040504050005020304" pitchFamily="18" charset="0"/>
                  </a:rPr>
                  <a:t>traversed counterclockwise.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2A80C7-555A-76B8-F51C-3D09B9DB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30" y="2881414"/>
                <a:ext cx="10848959" cy="793743"/>
              </a:xfrm>
              <a:prstGeom prst="rect">
                <a:avLst/>
              </a:prstGeom>
              <a:blipFill>
                <a:blip r:embed="rId5"/>
                <a:stretch>
                  <a:fillRect l="-449" t="-68462" b="-5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7038CAA-B765-23A5-1094-024CBD1A5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3612" y="4540335"/>
            <a:ext cx="1066892" cy="6248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E8A7B1-EBBB-7677-7735-BDBE42FFA973}"/>
              </a:ext>
            </a:extLst>
          </p:cNvPr>
          <p:cNvSpPr txBox="1"/>
          <p:nvPr/>
        </p:nvSpPr>
        <p:spPr>
          <a:xfrm>
            <a:off x="3170903" y="4498839"/>
            <a:ext cx="82050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The net circulation around </a:t>
            </a:r>
            <a:r>
              <a:rPr lang="en-US" sz="2000" b="1" dirty="0">
                <a:latin typeface="Amasis MT Pro" panose="02040504050005020304" pitchFamily="18" charset="0"/>
              </a:rPr>
              <a:t>any simple closed curve</a:t>
            </a:r>
            <a:r>
              <a:rPr lang="en-US" sz="2000" dirty="0">
                <a:latin typeface="Amasis MT Pro" panose="02040504050005020304" pitchFamily="18" charset="0"/>
              </a:rPr>
              <a:t> in the region is zero. The field is called irrotational. </a:t>
            </a:r>
          </a:p>
        </p:txBody>
      </p:sp>
    </p:spTree>
    <p:extLst>
      <p:ext uri="{BB962C8B-B14F-4D97-AF65-F5344CB8AC3E}">
        <p14:creationId xmlns:p14="http://schemas.microsoft.com/office/powerpoint/2010/main" val="157973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5691-DD64-E9D9-B426-BC1A58A0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686E3289-A81F-0FDC-EACD-BE0256BD5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946D010-A51F-5837-0D54-5BC663EF509B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6BA18-5B5A-9590-5D08-EB18524D317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DDD05-C852-0997-E315-865BD9870884}"/>
              </a:ext>
            </a:extLst>
          </p:cNvPr>
          <p:cNvSpPr txBox="1"/>
          <p:nvPr/>
        </p:nvSpPr>
        <p:spPr>
          <a:xfrm>
            <a:off x="694112" y="309282"/>
            <a:ext cx="1007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Stokes’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38C20-2172-23AD-4A84-546590D5C41B}"/>
              </a:ext>
            </a:extLst>
          </p:cNvPr>
          <p:cNvSpPr txBox="1"/>
          <p:nvPr/>
        </p:nvSpPr>
        <p:spPr>
          <a:xfrm>
            <a:off x="694112" y="970718"/>
            <a:ext cx="2835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Stokes’ theorem states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81EE0-79BB-9C30-AE11-E062A0EEA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648" y="793402"/>
            <a:ext cx="2591025" cy="723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D4FC38-5290-8514-9BD9-F3D3725537DB}"/>
                  </a:ext>
                </a:extLst>
              </p:cNvPr>
              <p:cNvSpPr txBox="1"/>
              <p:nvPr/>
            </p:nvSpPr>
            <p:spPr>
              <a:xfrm>
                <a:off x="3325648" y="1694681"/>
                <a:ext cx="610583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latin typeface="Amasis MT Pro" panose="02040504050005020304" pitchFamily="18" charset="0"/>
                  </a:rPr>
                  <a:t>where: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masis MT Pro" panose="02040504050005020304" pitchFamily="18" charset="0"/>
                  </a:rPr>
                  <a:t>C is the boundary curve of surface S,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masis MT Pro" panose="02040504050005020304" pitchFamily="18" charset="0"/>
                  </a:rPr>
                  <a:t>F is a vector field,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masis MT Pro" panose="02040504050005020304" pitchFamily="18" charset="0"/>
                  </a:rPr>
                  <a:t>is the </a:t>
                </a:r>
                <a:r>
                  <a:rPr lang="en-US" b="1" dirty="0">
                    <a:latin typeface="Amasis MT Pro" panose="02040504050005020304" pitchFamily="18" charset="0"/>
                  </a:rPr>
                  <a:t>curl</a:t>
                </a:r>
                <a:r>
                  <a:rPr lang="en-US" dirty="0">
                    <a:latin typeface="Amasis MT Pro" panose="02040504050005020304" pitchFamily="18" charset="0"/>
                  </a:rPr>
                  <a:t> of F,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masis MT Pro" panose="02040504050005020304" pitchFamily="18" charset="0"/>
                  </a:rPr>
                  <a:t>n is the unit normal to the surface.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D4FC38-5290-8514-9BD9-F3D372553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648" y="1694681"/>
                <a:ext cx="6105832" cy="1477328"/>
              </a:xfrm>
              <a:prstGeom prst="rect">
                <a:avLst/>
              </a:prstGeom>
              <a:blipFill>
                <a:blip r:embed="rId4"/>
                <a:stretch>
                  <a:fillRect l="-899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1011DA6-939D-4179-CF46-F751AE1C776E}"/>
              </a:ext>
            </a:extLst>
          </p:cNvPr>
          <p:cNvSpPr txBox="1"/>
          <p:nvPr/>
        </p:nvSpPr>
        <p:spPr>
          <a:xfrm>
            <a:off x="791495" y="3585889"/>
            <a:ext cx="9060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masis MT Pro" panose="02040504050005020304" pitchFamily="18" charset="0"/>
              </a:rPr>
              <a:t>So Stokes says: </a:t>
            </a:r>
            <a:r>
              <a:rPr lang="en-US" dirty="0">
                <a:latin typeface="Amasis MT Pro" panose="02040504050005020304" pitchFamily="18" charset="0"/>
              </a:rPr>
              <a:t>Circulation around the boundary = total curl/rotation inside the surface</a:t>
            </a:r>
          </a:p>
          <a:p>
            <a:endParaRPr lang="en-US" b="1" dirty="0">
              <a:latin typeface="Amasis MT Pro" panose="020405040500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97227C-C3E5-65FE-833D-B527282C69D3}"/>
              </a:ext>
            </a:extLst>
          </p:cNvPr>
          <p:cNvSpPr txBox="1"/>
          <p:nvPr/>
        </p:nvSpPr>
        <p:spPr>
          <a:xfrm>
            <a:off x="791496" y="4151466"/>
            <a:ext cx="10073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masis MT Pro" panose="02040504050005020304" pitchFamily="18" charset="0"/>
              </a:rPr>
              <a:t>Green’s theorem </a:t>
            </a:r>
            <a:r>
              <a:rPr lang="en-US" sz="2000" dirty="0">
                <a:latin typeface="Amasis MT Pro" panose="02040504050005020304" pitchFamily="18" charset="0"/>
              </a:rPr>
              <a:t>is essentially the </a:t>
            </a:r>
            <a:r>
              <a:rPr lang="en-US" sz="2000" b="1" dirty="0">
                <a:latin typeface="Amasis MT Pro" panose="02040504050005020304" pitchFamily="18" charset="0"/>
              </a:rPr>
              <a:t>two-dimensional version </a:t>
            </a:r>
            <a:r>
              <a:rPr lang="en-US" sz="2000" dirty="0">
                <a:latin typeface="Amasis MT Pro" panose="02040504050005020304" pitchFamily="18" charset="0"/>
              </a:rPr>
              <a:t>of Stokes’ theorem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505E75-E0A5-AB77-7557-7E1589B4AD94}"/>
              </a:ext>
            </a:extLst>
          </p:cNvPr>
          <p:cNvSpPr txBox="1"/>
          <p:nvPr/>
        </p:nvSpPr>
        <p:spPr>
          <a:xfrm>
            <a:off x="791496" y="4793987"/>
            <a:ext cx="96208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Green’s theorem = Stokes’ theorem restricted to a flat surface in the </a:t>
            </a:r>
            <a:r>
              <a:rPr lang="en-US" sz="2000" b="1" i="1" kern="100" dirty="0" err="1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xy</a:t>
            </a:r>
            <a:r>
              <a:rPr lang="en-US" sz="2000" b="1" i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plane</a:t>
            </a:r>
            <a:endParaRPr lang="en-US" sz="12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EBD5C5-21B5-2062-78D7-B7D37184A469}"/>
              </a:ext>
            </a:extLst>
          </p:cNvPr>
          <p:cNvSpPr txBox="1"/>
          <p:nvPr/>
        </p:nvSpPr>
        <p:spPr>
          <a:xfrm>
            <a:off x="774290" y="5467877"/>
            <a:ext cx="10643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If you add up all the tiny rotations inside a surface, the internal contributions cancel each other, leaving only the circulation around the outside boundary.</a:t>
            </a:r>
          </a:p>
        </p:txBody>
      </p:sp>
    </p:spTree>
    <p:extLst>
      <p:ext uri="{BB962C8B-B14F-4D97-AF65-F5344CB8AC3E}">
        <p14:creationId xmlns:p14="http://schemas.microsoft.com/office/powerpoint/2010/main" val="40520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5EA2A-158F-F6D5-A3C5-5DDC5A56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F6D623B-64E6-790E-1A8B-DD29A7F65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4A034A-D743-B996-7814-3988ED43A43B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2D7E2-98C3-B049-E0A9-B3CE7FF5B366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B4E35-EA76-6AC1-4101-EFFCAD5418E3}"/>
              </a:ext>
            </a:extLst>
          </p:cNvPr>
          <p:cNvSpPr txBox="1"/>
          <p:nvPr/>
        </p:nvSpPr>
        <p:spPr>
          <a:xfrm>
            <a:off x="694112" y="309282"/>
            <a:ext cx="10072211" cy="779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Stokes’ Theorem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 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2C3CC-175C-2386-33C0-2FC8B1603EEB}"/>
              </a:ext>
            </a:extLst>
          </p:cNvPr>
          <p:cNvSpPr txBox="1"/>
          <p:nvPr/>
        </p:nvSpPr>
        <p:spPr>
          <a:xfrm>
            <a:off x="694111" y="1358945"/>
            <a:ext cx="10848959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dirty="0">
                <a:latin typeface="Amasis MT Pro" panose="02040504050005020304" pitchFamily="18" charset="0"/>
              </a:rPr>
              <a:t>Evaluate the line integral                    using </a:t>
            </a:r>
            <a:r>
              <a:rPr lang="en-US" b="1" dirty="0">
                <a:latin typeface="Amasis MT Pro" panose="02040504050005020304" pitchFamily="18" charset="0"/>
              </a:rPr>
              <a:t>Stokes' theorem</a:t>
            </a:r>
            <a:r>
              <a:rPr lang="en-US" dirty="0">
                <a:latin typeface="Amasis MT Pro" panose="02040504050005020304" pitchFamily="18" charset="0"/>
              </a:rPr>
              <a:t>, where                     and C is the circle</a:t>
            </a:r>
          </a:p>
          <a:p>
            <a:pPr algn="just">
              <a:spcAft>
                <a:spcPts val="800"/>
              </a:spcAft>
            </a:pPr>
            <a:endParaRPr lang="en-US" dirty="0">
              <a:latin typeface="Amasis MT Pro" panose="020405040500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US" dirty="0">
                <a:latin typeface="Amasis MT Pro" panose="02040504050005020304" pitchFamily="18" charset="0"/>
              </a:rPr>
              <a:t>                                           oriented counterclockwise when viewed from the positive z-axis.</a:t>
            </a:r>
            <a:endParaRPr lang="en-US" sz="18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7F910-8894-D3EE-3653-4A9E8E2F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903" y="1297309"/>
            <a:ext cx="929721" cy="4724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9F964C-052D-2230-1F99-1532AD8AA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412" y="1401344"/>
            <a:ext cx="1234547" cy="2438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278E44-3B00-FC58-8604-21C69FF77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79" y="2052502"/>
            <a:ext cx="1867062" cy="3962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306EB3-1DDB-5890-0822-5DA721514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497" y="3205623"/>
            <a:ext cx="2606266" cy="6629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2293A-2765-DD85-40A9-D675325A0B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497" y="5118436"/>
            <a:ext cx="1112616" cy="2819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CF6BADA-A1CA-111F-D87E-679CE9BDEE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497" y="4000152"/>
            <a:ext cx="1988992" cy="83827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E1B83C-69AC-8A8A-2AA8-F0FACB5AD367}"/>
              </a:ext>
            </a:extLst>
          </p:cNvPr>
          <p:cNvSpPr txBox="1"/>
          <p:nvPr/>
        </p:nvSpPr>
        <p:spPr>
          <a:xfrm>
            <a:off x="1047707" y="5524302"/>
            <a:ext cx="4143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masis MT Pro" panose="02040504050005020304" pitchFamily="18" charset="0"/>
              </a:rPr>
              <a:t>Since S lies in the </a:t>
            </a:r>
            <a:r>
              <a:rPr lang="en-US" dirty="0" err="1">
                <a:latin typeface="Amasis MT Pro" panose="02040504050005020304" pitchFamily="18" charset="0"/>
              </a:rPr>
              <a:t>xy</a:t>
            </a:r>
            <a:r>
              <a:rPr lang="en-US" dirty="0">
                <a:latin typeface="Amasis MT Pro" panose="02040504050005020304" pitchFamily="18" charset="0"/>
              </a:rPr>
              <a:t>-plane,</a:t>
            </a:r>
            <a:r>
              <a:rPr lang="en-US" b="1" dirty="0">
                <a:latin typeface="Amasis MT Pro" panose="02040504050005020304" pitchFamily="18" charset="0"/>
              </a:rPr>
              <a:t> n = 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7BA367-58B5-9349-453D-BE13A759A3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3679" y="3427522"/>
            <a:ext cx="1409822" cy="3124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51C2C8-EFEA-FC24-41F5-A4C78CBE52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3679" y="3868620"/>
            <a:ext cx="1905165" cy="38865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3E272A1-4BA7-9786-A638-9BA4CDBEF2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9854" y="4482824"/>
            <a:ext cx="1767993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9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8AE9-FDCC-CE9C-9B4D-B50FB12D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04D1652-E19C-440B-4C50-0BB747A72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70D2B4-C296-9CD8-65BF-B3F474B8A317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55211-7641-CF30-302D-429A91E5EE1C}"/>
              </a:ext>
            </a:extLst>
          </p:cNvPr>
          <p:cNvSpPr txBox="1"/>
          <p:nvPr/>
        </p:nvSpPr>
        <p:spPr>
          <a:xfrm>
            <a:off x="267349" y="309282"/>
            <a:ext cx="1184337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749EA-C02C-28BC-F880-B654F2032D44}"/>
              </a:ext>
            </a:extLst>
          </p:cNvPr>
          <p:cNvSpPr txBox="1"/>
          <p:nvPr/>
        </p:nvSpPr>
        <p:spPr>
          <a:xfrm>
            <a:off x="267349" y="142144"/>
            <a:ext cx="1007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d</a:t>
            </a: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ivergence theorem </a:t>
            </a:r>
            <a:endParaRPr lang="en-US" sz="1800" b="1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1C169-B90B-01AF-2F84-6DE1CBC328E7}"/>
              </a:ext>
            </a:extLst>
          </p:cNvPr>
          <p:cNvSpPr txBox="1"/>
          <p:nvPr/>
        </p:nvSpPr>
        <p:spPr>
          <a:xfrm>
            <a:off x="452284" y="1691599"/>
            <a:ext cx="43931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masis MT Pro" panose="02040504050005020304" pitchFamily="18" charset="0"/>
              </a:rPr>
              <a:t>The divergence theorem states: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6F406F-816D-BBC0-4AD1-4EA7D0FA225E}"/>
              </a:ext>
            </a:extLst>
          </p:cNvPr>
          <p:cNvSpPr txBox="1"/>
          <p:nvPr/>
        </p:nvSpPr>
        <p:spPr>
          <a:xfrm>
            <a:off x="452284" y="2202669"/>
            <a:ext cx="11307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The total </a:t>
            </a:r>
            <a:r>
              <a:rPr lang="en-US" sz="2000" b="1" dirty="0">
                <a:solidFill>
                  <a:srgbClr val="0070C0"/>
                </a:solidFill>
                <a:latin typeface="Amasis MT Pro" panose="02040504050005020304" pitchFamily="18" charset="0"/>
              </a:rPr>
              <a:t>outward flux </a:t>
            </a:r>
            <a:r>
              <a:rPr lang="en-US" sz="2000" dirty="0">
                <a:latin typeface="Amasis MT Pro" panose="02040504050005020304" pitchFamily="18" charset="0"/>
              </a:rPr>
              <a:t>through a closed surface equals the total amount of </a:t>
            </a:r>
            <a:r>
              <a:rPr lang="en-US" sz="2000" b="1" dirty="0">
                <a:solidFill>
                  <a:srgbClr val="0070C0"/>
                </a:solidFill>
                <a:latin typeface="Amasis MT Pro" panose="02040504050005020304" pitchFamily="18" charset="0"/>
              </a:rPr>
              <a:t>divergence </a:t>
            </a:r>
            <a:r>
              <a:rPr lang="en-US" sz="2000" dirty="0">
                <a:latin typeface="Amasis MT Pro" panose="02040504050005020304" pitchFamily="18" charset="0"/>
              </a:rPr>
              <a:t>inside the volume.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4284B5-7B47-F8B4-A078-B8451174B9CF}"/>
              </a:ext>
            </a:extLst>
          </p:cNvPr>
          <p:cNvGrpSpPr/>
          <p:nvPr/>
        </p:nvGrpSpPr>
        <p:grpSpPr>
          <a:xfrm>
            <a:off x="1393147" y="3571743"/>
            <a:ext cx="7760685" cy="2000051"/>
            <a:chOff x="2632012" y="1897228"/>
            <a:chExt cx="6927976" cy="16578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B6315CA-A13F-290E-F018-59C2E8B71919}"/>
                </a:ext>
              </a:extLst>
            </p:cNvPr>
            <p:cNvGrpSpPr/>
            <p:nvPr/>
          </p:nvGrpSpPr>
          <p:grpSpPr>
            <a:xfrm>
              <a:off x="2632012" y="2412621"/>
              <a:ext cx="6927976" cy="1142466"/>
              <a:chOff x="3484384" y="1350714"/>
              <a:chExt cx="6927976" cy="1142466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AB6064E-75E3-D96D-54D6-5ABFAF013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3409" y="1350714"/>
                <a:ext cx="2682240" cy="8001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1396E5D-A9F3-7BFB-E09C-025F6B1D5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4384" y="2135040"/>
                <a:ext cx="3710940" cy="35814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C8D1424-2B36-482D-F193-256484024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9620" y="2132056"/>
                <a:ext cx="2872740" cy="350520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C5B4BF5-435C-09DF-8111-D60995729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61037" y="1897228"/>
              <a:ext cx="3368332" cy="381033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69074E1-14EF-0091-F84F-9CC8DB291D32}"/>
              </a:ext>
            </a:extLst>
          </p:cNvPr>
          <p:cNvSpPr txBox="1"/>
          <p:nvPr/>
        </p:nvSpPr>
        <p:spPr>
          <a:xfrm>
            <a:off x="274980" y="679084"/>
            <a:ext cx="11661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The Divergence Theorem connects what happens </a:t>
            </a:r>
            <a:r>
              <a:rPr lang="en-US" sz="2000" b="1" dirty="0">
                <a:latin typeface="Amasis MT Pro" panose="02040504050005020304" pitchFamily="18" charset="0"/>
              </a:rPr>
              <a:t>inside a volume </a:t>
            </a:r>
            <a:r>
              <a:rPr lang="en-US" sz="2000" dirty="0">
                <a:latin typeface="Amasis MT Pro" panose="02040504050005020304" pitchFamily="18" charset="0"/>
              </a:rPr>
              <a:t>with what crosses its </a:t>
            </a:r>
            <a:r>
              <a:rPr lang="en-US" sz="2000" b="1" dirty="0">
                <a:latin typeface="Amasis MT Pro" panose="02040504050005020304" pitchFamily="18" charset="0"/>
              </a:rPr>
              <a:t>closed boundary.</a:t>
            </a:r>
          </a:p>
        </p:txBody>
      </p:sp>
    </p:spTree>
    <p:extLst>
      <p:ext uri="{BB962C8B-B14F-4D97-AF65-F5344CB8AC3E}">
        <p14:creationId xmlns:p14="http://schemas.microsoft.com/office/powerpoint/2010/main" val="258145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E8C8-B9C6-7793-E90D-0A0CBB28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51A53869-C537-C691-D371-C020F824C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22968E-0D49-F6C0-5500-6F0BB09042B7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7C111F-4C1C-0AD3-7953-5B5BECD24BD1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44EAE-3059-8210-C387-1A9E7BCF7D39}"/>
              </a:ext>
            </a:extLst>
          </p:cNvPr>
          <p:cNvSpPr txBox="1"/>
          <p:nvPr/>
        </p:nvSpPr>
        <p:spPr>
          <a:xfrm>
            <a:off x="267349" y="142144"/>
            <a:ext cx="3321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Flux?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80B13-A22E-AF13-8B68-BC5DB3A0CA6E}"/>
              </a:ext>
            </a:extLst>
          </p:cNvPr>
          <p:cNvSpPr txBox="1"/>
          <p:nvPr/>
        </p:nvSpPr>
        <p:spPr>
          <a:xfrm>
            <a:off x="358878" y="498511"/>
            <a:ext cx="9738852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Intuition</a:t>
            </a:r>
            <a:endParaRPr lang="en-US" sz="18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Imagine holding a butterfly net in a flowing river: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Flux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measures the net amount of fluid passing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through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the net per unit time.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the net is perpendicular to the flow, maximum water passes through.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the net is parallel to the flow, no water passes through.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tilted, only the velocity component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perpendicular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to the net contributes to the flow.</a:t>
            </a:r>
            <a:endParaRPr lang="en-US" sz="11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6D44B-7781-27AF-7F1C-7C912CA1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6" y="3139429"/>
            <a:ext cx="3794313" cy="2525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500720-3D9F-838E-1957-DAA192C707D9}"/>
                  </a:ext>
                </a:extLst>
              </p:cNvPr>
              <p:cNvSpPr txBox="1"/>
              <p:nvPr/>
            </p:nvSpPr>
            <p:spPr>
              <a:xfrm>
                <a:off x="4773562" y="3048152"/>
                <a:ext cx="6995651" cy="3060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Mathematical Definition</a:t>
                </a:r>
                <a:endParaRPr lang="en-US" sz="1800" kern="100" dirty="0">
                  <a:solidFill>
                    <a:srgbClr val="0070C0"/>
                  </a:solidFill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For a constant vector field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passing through a flat surface with area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outward unit normal vector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800" i="0" kern="100">
                          <a:effectLst/>
                          <a:latin typeface="Amasis MT Pro" panose="020405040500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Flux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acc>
                        <m:accPr>
                          <m:chr m:val="ˆ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acc>
                      <m:d>
                        <m:d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vector field (e.g., velocity, electric field).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a unit vector pointing perpendicular (normal) to the surface.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500720-3D9F-838E-1957-DAA192C7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562" y="3048152"/>
                <a:ext cx="6995651" cy="3060133"/>
              </a:xfrm>
              <a:prstGeom prst="rect">
                <a:avLst/>
              </a:prstGeom>
              <a:blipFill>
                <a:blip r:embed="rId4"/>
                <a:stretch>
                  <a:fillRect l="-697" t="-996" b="-2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41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E204-5E3E-EF3A-5BF6-556A2A81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68B1A8F-F695-70AC-19D0-55F4C0D6C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4AF2DC-B26D-B403-7B21-5E98AFAF8789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107FD-0919-8233-1E64-3EAA35136377}"/>
              </a:ext>
            </a:extLst>
          </p:cNvPr>
          <p:cNvSpPr txBox="1"/>
          <p:nvPr/>
        </p:nvSpPr>
        <p:spPr>
          <a:xfrm>
            <a:off x="267349" y="309282"/>
            <a:ext cx="1184337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E7EBE-3AB0-A84B-37F4-404144E27701}"/>
              </a:ext>
            </a:extLst>
          </p:cNvPr>
          <p:cNvSpPr txBox="1"/>
          <p:nvPr/>
        </p:nvSpPr>
        <p:spPr>
          <a:xfrm>
            <a:off x="267349" y="142144"/>
            <a:ext cx="10072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d</a:t>
            </a: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ivergence theorem </a:t>
            </a:r>
            <a:endParaRPr lang="en-US" sz="1800" b="1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8EBD0-1BF9-935D-7314-09242C3AA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8" y="542254"/>
            <a:ext cx="10353152" cy="565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3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030D-1545-99F6-0887-6B97A1EC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CA665251-160E-D576-3FE9-3D177F9DF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F0A55A-986D-F589-7703-A55C0BFF3799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BB75097-0E07-178E-DDCC-FBE99580C413}"/>
              </a:ext>
            </a:extLst>
          </p:cNvPr>
          <p:cNvGrpSpPr/>
          <p:nvPr/>
        </p:nvGrpSpPr>
        <p:grpSpPr>
          <a:xfrm>
            <a:off x="334295" y="860783"/>
            <a:ext cx="4958089" cy="2860793"/>
            <a:chOff x="412953" y="276260"/>
            <a:chExt cx="4958089" cy="286079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D7D7C7F-64A5-8A9B-5408-11244DC8186B}"/>
                </a:ext>
              </a:extLst>
            </p:cNvPr>
            <p:cNvSpPr txBox="1"/>
            <p:nvPr/>
          </p:nvSpPr>
          <p:spPr>
            <a:xfrm>
              <a:off x="432617" y="395652"/>
              <a:ext cx="2684207" cy="3200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dirty="0">
                  <a:latin typeface="Amasis MT Pro" panose="02040504050005020304" pitchFamily="18" charset="0"/>
                </a:rPr>
                <a:t>Find the outward flux of</a:t>
              </a:r>
              <a:endParaRPr lang="en-US" b="1" kern="1200" dirty="0">
                <a:solidFill>
                  <a:schemeClr val="accent2"/>
                </a:solidFill>
                <a:latin typeface="Amasis MT Pro" panose="02040504050005020304" pitchFamily="18" charset="0"/>
                <a:ea typeface="+mj-ea"/>
                <a:cs typeface="+mj-cs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0F352E-30CB-BC0D-0719-C553F49AB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9259" y="276260"/>
              <a:ext cx="2441783" cy="49428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7D0005-F745-EFFA-A474-EFD7FE6C2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15157" y="797002"/>
              <a:ext cx="3055885" cy="32006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743113-F3D5-354E-4976-B118833DB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3733" y="1338323"/>
              <a:ext cx="2834886" cy="137934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8FB65F6-B1DD-44FA-5CBA-D36AF1022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953" y="2740779"/>
              <a:ext cx="853514" cy="39627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4FD591-A5EE-2365-6829-9610E5D1ED84}"/>
                </a:ext>
              </a:extLst>
            </p:cNvPr>
            <p:cNvSpPr txBox="1"/>
            <p:nvPr/>
          </p:nvSpPr>
          <p:spPr>
            <a:xfrm>
              <a:off x="513733" y="797002"/>
              <a:ext cx="25219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masis MT Pro" panose="02040504050005020304" pitchFamily="18" charset="0"/>
                </a:rPr>
                <a:t>through the box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C79CF8D-506B-FB68-756F-36FB3AA7002C}"/>
              </a:ext>
            </a:extLst>
          </p:cNvPr>
          <p:cNvGrpSpPr/>
          <p:nvPr/>
        </p:nvGrpSpPr>
        <p:grpSpPr>
          <a:xfrm>
            <a:off x="7215152" y="839242"/>
            <a:ext cx="3413777" cy="5179516"/>
            <a:chOff x="7113466" y="282642"/>
            <a:chExt cx="3413777" cy="517951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390338-B5AA-B608-3A43-0416F0DEEECB}"/>
                </a:ext>
              </a:extLst>
            </p:cNvPr>
            <p:cNvSpPr txBox="1"/>
            <p:nvPr/>
          </p:nvSpPr>
          <p:spPr>
            <a:xfrm>
              <a:off x="7113466" y="282642"/>
              <a:ext cx="32102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masis MT Pro" panose="02040504050005020304" pitchFamily="18" charset="0"/>
                </a:rPr>
                <a:t>Evaluate the outward flux of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2EE829F-F4F8-79B2-DD91-576C7DB88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3466" y="770548"/>
              <a:ext cx="1562235" cy="28196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1B951B-2C6E-EE6A-7A9D-9E7F46FDDA30}"/>
                </a:ext>
              </a:extLst>
            </p:cNvPr>
            <p:cNvSpPr txBox="1"/>
            <p:nvPr/>
          </p:nvSpPr>
          <p:spPr>
            <a:xfrm>
              <a:off x="7159522" y="1117070"/>
              <a:ext cx="33677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masis MT Pro" panose="02040504050005020304" pitchFamily="18" charset="0"/>
                </a:rPr>
                <a:t>through the surface of the cube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251E08B-2EEF-067C-CCDE-924F54AEF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84930" y="1745740"/>
              <a:ext cx="1219306" cy="20575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C7F0C72-0450-DF58-83A8-6FB375DB4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43922" y="2451997"/>
              <a:ext cx="2187130" cy="3010161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9E85456-5C1D-A1B8-508C-B1A17B1AC28F}"/>
              </a:ext>
            </a:extLst>
          </p:cNvPr>
          <p:cNvSpPr txBox="1"/>
          <p:nvPr/>
        </p:nvSpPr>
        <p:spPr>
          <a:xfrm>
            <a:off x="435075" y="349136"/>
            <a:ext cx="1580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Example 1</a:t>
            </a:r>
            <a:r>
              <a:rPr lang="en-US" sz="18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 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2DC0A0-89FB-E5A4-92CB-84053F5CECAE}"/>
              </a:ext>
            </a:extLst>
          </p:cNvPr>
          <p:cNvSpPr txBox="1"/>
          <p:nvPr/>
        </p:nvSpPr>
        <p:spPr>
          <a:xfrm>
            <a:off x="7187017" y="252965"/>
            <a:ext cx="1580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Example 2</a:t>
            </a:r>
            <a:r>
              <a:rPr lang="en-US" sz="18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 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20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8A2D-A21A-5505-9B3F-1CB24BFB1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BDF117C-410E-18EA-6976-026850BE0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F347E2-C25B-D67A-0489-926B29D6CDF0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30220B-968A-2D0A-E027-9E066E698136}"/>
              </a:ext>
            </a:extLst>
          </p:cNvPr>
          <p:cNvGrpSpPr/>
          <p:nvPr/>
        </p:nvGrpSpPr>
        <p:grpSpPr>
          <a:xfrm>
            <a:off x="275301" y="897097"/>
            <a:ext cx="4925109" cy="770682"/>
            <a:chOff x="432617" y="395652"/>
            <a:chExt cx="4925109" cy="77068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CD04A48-4083-6D45-B935-F90671678873}"/>
                </a:ext>
              </a:extLst>
            </p:cNvPr>
            <p:cNvSpPr txBox="1"/>
            <p:nvPr/>
          </p:nvSpPr>
          <p:spPr>
            <a:xfrm>
              <a:off x="432617" y="395652"/>
              <a:ext cx="2684207" cy="3200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dirty="0">
                  <a:latin typeface="Amasis MT Pro" panose="02040504050005020304" pitchFamily="18" charset="0"/>
                </a:rPr>
                <a:t>Find the outward flux of</a:t>
              </a:r>
              <a:endParaRPr lang="en-US" b="1" kern="1200" dirty="0">
                <a:solidFill>
                  <a:schemeClr val="accent2"/>
                </a:solidFill>
                <a:latin typeface="Amasis MT Pro" panose="02040504050005020304" pitchFamily="18" charset="0"/>
                <a:ea typeface="+mj-ea"/>
                <a:cs typeface="+mj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1F6591-CDBD-0E0E-E66B-8FA3FD222A99}"/>
                </a:ext>
              </a:extLst>
            </p:cNvPr>
            <p:cNvSpPr txBox="1"/>
            <p:nvPr/>
          </p:nvSpPr>
          <p:spPr>
            <a:xfrm>
              <a:off x="513733" y="797002"/>
              <a:ext cx="25219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Amasis MT Pro" panose="02040504050005020304" pitchFamily="18" charset="0"/>
                </a:rPr>
                <a:t>through the box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B0C4DC-F2CD-DB4B-3528-9D7757CCB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6824" y="395652"/>
              <a:ext cx="1928027" cy="35817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E473EB-7574-FFDE-24C7-6FA8DBED9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0427" y="797002"/>
              <a:ext cx="2987299" cy="281964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8CB9E60-005A-B820-A3CE-AB9E4C77B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227" y="718468"/>
            <a:ext cx="2827265" cy="51591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EDC358-2BFD-3300-2E51-53C9E1B9663C}"/>
              </a:ext>
            </a:extLst>
          </p:cNvPr>
          <p:cNvSpPr txBox="1"/>
          <p:nvPr/>
        </p:nvSpPr>
        <p:spPr>
          <a:xfrm>
            <a:off x="435075" y="349136"/>
            <a:ext cx="1580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Example 3</a:t>
            </a:r>
            <a:r>
              <a:rPr lang="en-US" sz="18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 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642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E48C-8241-7B06-3C88-EB8A7772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E615D1F0-B81C-D100-1478-DB7D82937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1086B0-7B7D-3DDC-1101-31CE40EDCCDA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492D17-8E11-FDF5-0AB6-4CF2CA7BC7B2}"/>
              </a:ext>
            </a:extLst>
          </p:cNvPr>
          <p:cNvSpPr txBox="1"/>
          <p:nvPr/>
        </p:nvSpPr>
        <p:spPr>
          <a:xfrm>
            <a:off x="435075" y="349136"/>
            <a:ext cx="1580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Example 3</a:t>
            </a:r>
            <a:r>
              <a:rPr lang="en-US" sz="18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 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" name="Picture 2" descr="Read-only image view">
            <a:extLst>
              <a:ext uri="{FF2B5EF4-FFF2-40B4-BE49-F238E27FC236}">
                <a16:creationId xmlns:a16="http://schemas.microsoft.com/office/drawing/2014/main" id="{5A2DFCBE-FCA3-0B9C-B9AA-D61F1FDBC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510" y="718468"/>
            <a:ext cx="9070980" cy="506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95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5496</TotalTime>
  <Words>712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Amasis MT Pro</vt:lpstr>
      <vt:lpstr>Aptos</vt:lpstr>
      <vt:lpstr>Aptos Display</vt:lpstr>
      <vt:lpstr>Arial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Jashodhan Saha</dc:creator>
  <cp:lastModifiedBy>Jashodhan Saha</cp:lastModifiedBy>
  <cp:revision>6</cp:revision>
  <dcterms:created xsi:type="dcterms:W3CDTF">2026-09-28T03:36:52Z</dcterms:created>
  <dcterms:modified xsi:type="dcterms:W3CDTF">2026-10-05T14:37:39Z</dcterms:modified>
</cp:coreProperties>
</file>