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org&amp;utm_campaign=index&amp;utm_content=original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9" r:id="rId2"/>
    <p:sldId id="334" r:id="rId3"/>
    <p:sldId id="320" r:id="rId4"/>
    <p:sldId id="321" r:id="rId5"/>
    <p:sldId id="326" r:id="rId6"/>
    <p:sldId id="329" r:id="rId7"/>
    <p:sldId id="325" r:id="rId8"/>
    <p:sldId id="323" r:id="rId9"/>
    <p:sldId id="324" r:id="rId10"/>
    <p:sldId id="327" r:id="rId11"/>
    <p:sldId id="330" r:id="rId12"/>
    <p:sldId id="336" r:id="rId13"/>
    <p:sldId id="333" r:id="rId14"/>
    <p:sldId id="332" r:id="rId15"/>
    <p:sldId id="331" r:id="rId16"/>
    <p:sldId id="335" r:id="rId17"/>
    <p:sldId id="33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CA33D-558F-7F9A-A259-0189191DC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BC56CA-6045-18F0-4B1F-713794A0B9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5F711-9B64-EF3F-0CCE-EA7EF3E7E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5906B-6869-4F9A-BFDE-59F0C45348C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072C8-C265-C050-11FD-2974093FD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C3739-E264-5D04-6B0D-2C6419F74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1934-B88A-4DA7-AF08-C763032A6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05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ACCDD-EBF8-6D80-8B75-7105F097B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45BE6-FFE4-3980-E7B5-56C4AFD79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EA478-2E11-CD3A-9ADF-2C2385300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5906B-6869-4F9A-BFDE-59F0C45348C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34045-F8B4-1898-FD75-EBE11E812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1A04A-BCEA-FAE5-6B06-38A3ADFE6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1934-B88A-4DA7-AF08-C763032A6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33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0AAB8-1755-6F81-0016-6F7D5B47B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42FBD-44AD-0447-C97B-9381B92E0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931CF-E744-C7BE-04AB-DD91496E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5906B-6869-4F9A-BFDE-59F0C45348C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91779B-5824-36B2-0D3E-5281AEF80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09333-1127-F60A-3850-B63CDB97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1934-B88A-4DA7-AF08-C763032A6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5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0A8AD-A548-760F-C2BE-26CCDFAEB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89A6B-B8E1-8FEF-BCED-A3F54CBD9B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91ACBA-D463-BCD9-A9FA-9812F8F4A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7DAE1-2581-782B-C345-D182A78731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5906B-6869-4F9A-BFDE-59F0C45348C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7FDD41-8D4D-5BBF-E1E0-F8F3C898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9A1102-5E16-9F78-9C05-DDD9522D7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1934-B88A-4DA7-AF08-C763032A6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14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227E4-B3E5-F2B3-7227-F5E5729BA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57339-FE28-E888-8672-1F26D6DB4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97B56-8F70-67B0-BE91-5656902E82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BB9DF6-C5F4-545A-3BDE-D1B3EBB98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B0C1B1-29E5-C4A6-8CBC-EE53C5075C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CC485D-E90A-5D4F-0E2C-8296CDB4A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5906B-6869-4F9A-BFDE-59F0C45348C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B27D6C-76A1-9F32-E753-7423844F9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8E184B-75D3-3D4F-CB24-CD4926F3C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1934-B88A-4DA7-AF08-C763032A6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720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45196-211B-0615-A993-25B399C3E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23C7E8-1F4E-E95E-09E0-E419CBFA6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5906B-6869-4F9A-BFDE-59F0C45348C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818E8E-ADCA-8B65-8748-47D4047E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B62404-08EE-6CD8-1002-15A5381A2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1934-B88A-4DA7-AF08-C763032A6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175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A78A49-24E3-C8BB-DE1D-2BBD10BA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5906B-6869-4F9A-BFDE-59F0C45348C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0B26D-9552-2A12-4829-7A6635A2B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68924-5B1D-920F-EC19-689D3CE37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1934-B88A-4DA7-AF08-C763032A6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702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2081-D3E3-BFD5-B26F-5C57A8408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83E72-C8CA-696E-0E1D-C7795D7C2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52910-6BEE-46D4-6E1B-8FDF95453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1EC3F7-F286-FFF8-B635-D54B64B49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5906B-6869-4F9A-BFDE-59F0C45348C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4F6E12-37E9-B869-0B73-9B2244465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CA42A7-BAE6-7372-F56E-B22D86924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1934-B88A-4DA7-AF08-C763032A6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139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D9BEF-6453-8DE7-175F-526328622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8E31F5-A3E7-423A-D158-F5C5C3AC70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1EC8-94A5-270D-77A3-293B81DCA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0F56C-7128-47EE-A923-CCA55B466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5906B-6869-4F9A-BFDE-59F0C45348C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69F506-5AC3-782C-E228-E245343DB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F1473-1AC2-4350-0D84-845E4AE5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1934-B88A-4DA7-AF08-C763032A6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35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583C8-7826-305D-B291-8E7EE39A2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C8897-87B6-813E-4572-73BF241A0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24FC6-64D5-7D82-29EB-E143AE8D5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5906B-6869-4F9A-BFDE-59F0C45348C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18284-6738-9FCC-82D7-D7ADA92F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A79A2-01E4-3F56-529E-AE94B22A1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1934-B88A-4DA7-AF08-C763032A6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99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B6FE5D-3EDD-8ED2-1A13-A18A4303CC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CE6F75-6EDF-3E7E-DB4A-F705B0358A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6241E-7A3B-57DD-CAA2-CD638ACE6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5906B-6869-4F9A-BFDE-59F0C45348C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873DA-74BD-131B-383E-ADEA32D59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0A628-4432-53D8-0A92-F001D918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1934-B88A-4DA7-AF08-C763032A6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246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33FA84-E3B4-85D1-5285-7B29EF39B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ABAF7-2406-7C34-5B52-2D1AB880ED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B7370-5F80-D71E-16E1-2D42B71D12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F5906B-6869-4F9A-BFDE-59F0C45348CD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D6F74-C329-A8A3-D9E6-CC8614514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B7503-931C-5997-9CD4-B82A1991E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B1934-B88A-4DA7-AF08-C763032A6A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757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org&amp;utm_campaign=index&amp;utm_content=origi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23DC-8371-8558-466C-35E0C5EB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98700F8F-F005-E2E9-EDC9-A2297BE2E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869C706-7400-867B-8DF9-7FC3D5E65EDD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0996EB-FB6C-FEB0-1902-54E6A1A84742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B042C5-68DC-AAEF-DD50-6F291832816D}"/>
              </a:ext>
            </a:extLst>
          </p:cNvPr>
          <p:cNvSpPr txBox="1"/>
          <p:nvPr/>
        </p:nvSpPr>
        <p:spPr>
          <a:xfrm>
            <a:off x="563750" y="504307"/>
            <a:ext cx="219849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Conic Sections </a:t>
            </a:r>
            <a:endParaRPr lang="en-US" sz="24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899714-0BA4-F52F-2D6D-72E2C58DAA10}"/>
              </a:ext>
            </a:extLst>
          </p:cNvPr>
          <p:cNvSpPr txBox="1"/>
          <p:nvPr/>
        </p:nvSpPr>
        <p:spPr>
          <a:xfrm>
            <a:off x="563751" y="1262823"/>
            <a:ext cx="992860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masis MT Pro" panose="02040504050005020304" pitchFamily="18" charset="0"/>
              </a:rPr>
              <a:t>A </a:t>
            </a:r>
            <a:r>
              <a:rPr lang="en-US" sz="2000" b="1" dirty="0">
                <a:latin typeface="Amasis MT Pro" panose="02040504050005020304" pitchFamily="18" charset="0"/>
              </a:rPr>
              <a:t>conic section</a:t>
            </a:r>
            <a:r>
              <a:rPr lang="en-US" sz="2000" dirty="0">
                <a:latin typeface="Amasis MT Pro" panose="02040504050005020304" pitchFamily="18" charset="0"/>
              </a:rPr>
              <a:t> is a curve obtained by intersecting </a:t>
            </a:r>
            <a:r>
              <a:rPr lang="en-US" sz="2000" b="1" dirty="0">
                <a:latin typeface="Amasis MT Pro" panose="02040504050005020304" pitchFamily="18" charset="0"/>
              </a:rPr>
              <a:t>a plane </a:t>
            </a:r>
            <a:r>
              <a:rPr lang="en-US" sz="2000" dirty="0">
                <a:latin typeface="Amasis MT Pro" panose="02040504050005020304" pitchFamily="18" charset="0"/>
              </a:rPr>
              <a:t>with a </a:t>
            </a:r>
            <a:r>
              <a:rPr lang="en-US" sz="2000" b="1" dirty="0">
                <a:latin typeface="Amasis MT Pro" panose="02040504050005020304" pitchFamily="18" charset="0"/>
              </a:rPr>
              <a:t>right circular cone</a:t>
            </a:r>
            <a:r>
              <a:rPr lang="en-US" sz="2000" dirty="0">
                <a:latin typeface="Amasis MT Pro" panose="02040504050005020304" pitchFamily="18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7AE09C-14F4-C212-A05B-0B4FF95576B7}"/>
              </a:ext>
            </a:extLst>
          </p:cNvPr>
          <p:cNvSpPr txBox="1"/>
          <p:nvPr/>
        </p:nvSpPr>
        <p:spPr>
          <a:xfrm>
            <a:off x="4260680" y="104197"/>
            <a:ext cx="1835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4</a:t>
            </a:r>
            <a:endParaRPr lang="en-US" sz="3200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 descr="The Conic Sections">
            <a:extLst>
              <a:ext uri="{FF2B5EF4-FFF2-40B4-BE49-F238E27FC236}">
                <a16:creationId xmlns:a16="http://schemas.microsoft.com/office/drawing/2014/main" id="{6774A32B-BA63-637D-F9A9-2C691D520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4852" y="2109027"/>
            <a:ext cx="6667500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340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432AD-09B2-1012-63AF-D8BF5828D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EA461FB-FBB8-936F-20FB-594AC4FC9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1405EDF2-E6D6-1A46-524A-4B2A98F16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862F48A-8023-F70B-22D2-431935446A2D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0C33B7-4555-AB7A-57F8-050B1DF16B55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pic>
        <p:nvPicPr>
          <p:cNvPr id="3" name="Picture 2" descr="https://images.openai.com/static-rsc-4/5QEH9zccXlgg_Ph0H4F_pdDgYTcf2nr280IYeQQLF-Kc0mzQF283Heo7HMEQSAyWBT0HphED3fxT4B4I_N7oN6LzNj4ZHTjn7Y3XVw5P4ePjhEsBIUv8QqcYTwOxX04K4wxSic0O4prVlTm4T-ifzzDDTfTbGaebfDQ7wtn5MkeTVM6bYz0CPdsPBZ7cwjbC?purpose=fullsize">
            <a:extLst>
              <a:ext uri="{FF2B5EF4-FFF2-40B4-BE49-F238E27FC236}">
                <a16:creationId xmlns:a16="http://schemas.microsoft.com/office/drawing/2014/main" id="{B3FBE750-25E5-E9C3-2A83-2FC4716B79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149" y="114257"/>
            <a:ext cx="6076336" cy="609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86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823DC-8371-8558-466C-35E0C5EBB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98700F8F-F005-E2E9-EDC9-A2297BE2E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869C706-7400-867B-8DF9-7FC3D5E65EDD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0996EB-FB6C-FEB0-1902-54E6A1A84742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899714-0BA4-F52F-2D6D-72E2C58DAA10}"/>
              </a:ext>
            </a:extLst>
          </p:cNvPr>
          <p:cNvSpPr txBox="1"/>
          <p:nvPr/>
        </p:nvSpPr>
        <p:spPr>
          <a:xfrm>
            <a:off x="483759" y="562786"/>
            <a:ext cx="9928601" cy="407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Depending on the </a:t>
            </a:r>
            <a:r>
              <a:rPr lang="en-US" sz="20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angle and position </a:t>
            </a:r>
            <a:r>
              <a:rPr lang="en-US" sz="20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of the intersecting plane, the resulting curve can be:</a:t>
            </a:r>
            <a:endParaRPr lang="en-US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Conic_Sections.svg">
            <a:extLst>
              <a:ext uri="{FF2B5EF4-FFF2-40B4-BE49-F238E27FC236}">
                <a16:creationId xmlns:a16="http://schemas.microsoft.com/office/drawing/2014/main" id="{889490C8-D7AE-1BA0-76E6-C6A941CD9B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008" y="1224222"/>
            <a:ext cx="4257675" cy="4257675"/>
          </a:xfrm>
          <a:prstGeom prst="rect">
            <a:avLst/>
          </a:prstGeom>
        </p:spPr>
      </p:pic>
      <p:pic>
        <p:nvPicPr>
          <p:cNvPr id="17" name="Picture 16" descr="File:Conic sections ani.gif - Wikimedia Commons">
            <a:extLst>
              <a:ext uri="{FF2B5EF4-FFF2-40B4-BE49-F238E27FC236}">
                <a16:creationId xmlns:a16="http://schemas.microsoft.com/office/drawing/2014/main" id="{C4FB94A4-B5D9-DA39-4FA0-EACAE6B5EF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2342" y="970718"/>
            <a:ext cx="5926974" cy="5196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0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F9EF71-81F1-4D44-1F7E-64BD2345C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87ECF-85E9-4393-9D87-8EB6F3F6C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DFE3C6D3-2111-6D73-743F-13FFF7799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BDC382-CBEC-47FB-2AA3-6B072760D7B2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0FB97C-B0BF-BA8C-8FD5-724BE713EE48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22A438-9D6D-B995-7755-B56EEE2940D3}"/>
              </a:ext>
            </a:extLst>
          </p:cNvPr>
          <p:cNvSpPr txBox="1"/>
          <p:nvPr/>
        </p:nvSpPr>
        <p:spPr>
          <a:xfrm>
            <a:off x="634181" y="504307"/>
            <a:ext cx="7919884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b="1" kern="100" dirty="0">
                <a:solidFill>
                  <a:srgbClr val="FF0000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Why do we study Conics Sections ?</a:t>
            </a:r>
            <a:endParaRPr lang="en-US" sz="2400" kern="100" dirty="0">
              <a:solidFill>
                <a:srgbClr val="FF0000"/>
              </a:solidFill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4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They Connect Mathematics with the Real World</a:t>
            </a:r>
            <a:endParaRPr lang="en-US" sz="2400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15CCBE-DE05-8D3E-A147-93F7A86EB0F0}"/>
              </a:ext>
            </a:extLst>
          </p:cNvPr>
          <p:cNvSpPr txBox="1"/>
          <p:nvPr/>
        </p:nvSpPr>
        <p:spPr>
          <a:xfrm>
            <a:off x="634181" y="2061571"/>
            <a:ext cx="105352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Many </a:t>
            </a:r>
            <a:r>
              <a:rPr lang="en-US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natural and engineered phenomena </a:t>
            </a: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have approximately conical-section shapes.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C34F27-B52F-5EB5-24C7-226629033D6B}"/>
              </a:ext>
            </a:extLst>
          </p:cNvPr>
          <p:cNvSpPr txBox="1"/>
          <p:nvPr/>
        </p:nvSpPr>
        <p:spPr>
          <a:xfrm>
            <a:off x="634181" y="2606086"/>
            <a:ext cx="10161639" cy="3272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 example:</a:t>
            </a:r>
          </a:p>
          <a:p>
            <a:pPr marL="342900" marR="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Planetary orbits → </a:t>
            </a:r>
            <a:r>
              <a:rPr lang="en-US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ellipses</a:t>
            </a: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Satellite trajectories → </a:t>
            </a:r>
            <a:r>
              <a:rPr lang="en-US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ellipses/parabolas/hyperbolas</a:t>
            </a: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Satellite dishes → </a:t>
            </a:r>
            <a:r>
              <a:rPr lang="en-US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parabolas</a:t>
            </a: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Car headlights → </a:t>
            </a:r>
            <a:r>
              <a:rPr lang="en-US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parabolic reflectors</a:t>
            </a: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Cooling towers → </a:t>
            </a:r>
            <a:r>
              <a:rPr lang="en-US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hyperbolic shapes</a:t>
            </a: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Circular wheels and gears → </a:t>
            </a:r>
            <a:r>
              <a:rPr lang="en-US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circles</a:t>
            </a: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marR="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Navigation and location systems → </a:t>
            </a:r>
            <a:r>
              <a:rPr lang="en-US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circles, ellipses and hyperbolas</a:t>
            </a:r>
            <a:endParaRPr lang="en-US" sz="2000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78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CE350F-CBCC-FB44-7AD9-46FE3AFED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4D241B0-E455-EF56-4B04-5B1665BD8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931B1B09-AB29-5E3F-3528-E042C66B2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1C0EE01-941D-08B9-1430-5AF36ADD672A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A643D-3D02-8B94-AB04-2A231B952666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0B31B5-A0CF-726C-9AF8-DDC059C7813B}"/>
              </a:ext>
            </a:extLst>
          </p:cNvPr>
          <p:cNvSpPr txBox="1"/>
          <p:nvPr/>
        </p:nvSpPr>
        <p:spPr>
          <a:xfrm>
            <a:off x="693174" y="504307"/>
            <a:ext cx="610583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Planetary orbits </a:t>
            </a: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→ </a:t>
            </a:r>
            <a:r>
              <a:rPr lang="en-US" sz="20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ellipses</a:t>
            </a: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Picture 6" descr="Teach Astronomy - Elliptical Orbits">
            <a:extLst>
              <a:ext uri="{FF2B5EF4-FFF2-40B4-BE49-F238E27FC236}">
                <a16:creationId xmlns:a16="http://schemas.microsoft.com/office/drawing/2014/main" id="{53D0142D-D5A3-BCFF-8155-5D6C345A9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50" y="1759974"/>
            <a:ext cx="666750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62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8E9503-B039-11F6-986F-BEA831C18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E81E82-60D0-C70A-920D-C29F9DD9E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EABC1BEE-3198-021A-FF8C-185B5BE30B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C2A7CF6-528A-C75A-BCD3-F68A661D88AD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C5861F-2B72-483F-8916-8B5ACD67648B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pic>
        <p:nvPicPr>
          <p:cNvPr id="3" name="Picture 2" descr="Figure_3.JPG">
            <a:extLst>
              <a:ext uri="{FF2B5EF4-FFF2-40B4-BE49-F238E27FC236}">
                <a16:creationId xmlns:a16="http://schemas.microsoft.com/office/drawing/2014/main" id="{FD4A0706-3E37-EE68-EA49-E2CA8DBF6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452" y="2258020"/>
            <a:ext cx="5409381" cy="4057036"/>
          </a:xfrm>
          <a:prstGeom prst="rect">
            <a:avLst/>
          </a:prstGeom>
        </p:spPr>
      </p:pic>
      <p:pic>
        <p:nvPicPr>
          <p:cNvPr id="6" name="Picture 5" descr="Figure_1.JPG">
            <a:extLst>
              <a:ext uri="{FF2B5EF4-FFF2-40B4-BE49-F238E27FC236}">
                <a16:creationId xmlns:a16="http://schemas.microsoft.com/office/drawing/2014/main" id="{2BCBD9F9-D775-2930-6C1E-0FA51364C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75" y="2258020"/>
            <a:ext cx="5368611" cy="40264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0D6D8D-DE31-EDC9-587F-DC5934BB7D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9384" y="74662"/>
            <a:ext cx="2930182" cy="21976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4CEA37-9D1E-BFB5-D427-00D1558C4DA3}"/>
              </a:ext>
            </a:extLst>
          </p:cNvPr>
          <p:cNvSpPr txBox="1"/>
          <p:nvPr/>
        </p:nvSpPr>
        <p:spPr>
          <a:xfrm>
            <a:off x="188452" y="309282"/>
            <a:ext cx="61336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>
              <a:lnSpc>
                <a:spcPct val="10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Satellite trajectories → </a:t>
            </a:r>
            <a:r>
              <a:rPr lang="en-US" sz="20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ellipses/parabolas/hyperbolas</a:t>
            </a:r>
            <a:endParaRPr lang="en-US" sz="2000" kern="100" dirty="0">
              <a:solidFill>
                <a:schemeClr val="accent2"/>
              </a:solidFill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1501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FA6B3-91B3-1A22-CA56-8D33802F2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FA41ED4F-A0D6-03BB-2FCA-3E56392EF6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5CD18D4-C8FE-4AF5-BC90-824EF0B51F33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C6416-49F5-140F-4811-06501FF9B6A9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pic>
        <p:nvPicPr>
          <p:cNvPr id="3" name="Picture 2" descr="SPACE LESSON: SATELLITE DISH: a littleBits Project by littleBits">
            <a:extLst>
              <a:ext uri="{FF2B5EF4-FFF2-40B4-BE49-F238E27FC236}">
                <a16:creationId xmlns:a16="http://schemas.microsoft.com/office/drawing/2014/main" id="{C1A07CE3-1CD5-1DE4-0D73-03AEF2F32E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45" r="20530"/>
          <a:stretch>
            <a:fillRect/>
          </a:stretch>
        </p:blipFill>
        <p:spPr>
          <a:xfrm>
            <a:off x="6747251" y="1111813"/>
            <a:ext cx="4610584" cy="3953286"/>
          </a:xfrm>
          <a:prstGeom prst="rect">
            <a:avLst/>
          </a:prstGeom>
        </p:spPr>
      </p:pic>
      <p:pic>
        <p:nvPicPr>
          <p:cNvPr id="5" name="Picture 4" descr="PARABOLA - Reflector of Car Head Lamp - YouTube">
            <a:extLst>
              <a:ext uri="{FF2B5EF4-FFF2-40B4-BE49-F238E27FC236}">
                <a16:creationId xmlns:a16="http://schemas.microsoft.com/office/drawing/2014/main" id="{371304A9-FC6C-7F20-8015-F66643216CC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864"/>
          <a:stretch>
            <a:fillRect/>
          </a:stretch>
        </p:blipFill>
        <p:spPr>
          <a:xfrm>
            <a:off x="310557" y="1085316"/>
            <a:ext cx="5278064" cy="30673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E94FE6-73F1-56BA-590C-6D0D7296FEF4}"/>
              </a:ext>
            </a:extLst>
          </p:cNvPr>
          <p:cNvSpPr txBox="1"/>
          <p:nvPr/>
        </p:nvSpPr>
        <p:spPr>
          <a:xfrm>
            <a:off x="7959213" y="5383835"/>
            <a:ext cx="39476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Satellite dishes 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→ </a:t>
            </a:r>
            <a:r>
              <a:rPr lang="en-US" sz="18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parabolas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100" kern="100" dirty="0">
              <a:solidFill>
                <a:schemeClr val="accent2"/>
              </a:solidFill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EE8FEB-148F-9E6C-4007-C29BAD34853F}"/>
              </a:ext>
            </a:extLst>
          </p:cNvPr>
          <p:cNvSpPr txBox="1"/>
          <p:nvPr/>
        </p:nvSpPr>
        <p:spPr>
          <a:xfrm>
            <a:off x="415277" y="4457200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Car headlights → </a:t>
            </a:r>
            <a:r>
              <a:rPr lang="en-US" sz="18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parabolic reflectors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100" kern="100" dirty="0">
              <a:solidFill>
                <a:schemeClr val="accent2"/>
              </a:solidFill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8559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5B3E6F-83BA-B0BD-81D4-27955DC93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D5032B7-2FD0-EE6F-68A9-8927EFB7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4B9710C6-F5D3-0754-D898-F8E121BF2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D7BCD9B-6696-BDD9-F678-F75523DCB554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42FEFF-6425-F6B2-7F70-845A19DCA4D4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C780EC-6CCC-FFC2-0ED7-79540A7BE8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285875"/>
            <a:ext cx="7620000" cy="42862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0D1B03F-C4F6-09BC-3847-D9CCECBFB728}"/>
              </a:ext>
            </a:extLst>
          </p:cNvPr>
          <p:cNvSpPr txBox="1"/>
          <p:nvPr/>
        </p:nvSpPr>
        <p:spPr>
          <a:xfrm>
            <a:off x="2836607" y="5658217"/>
            <a:ext cx="61058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https://www.sciencephoto.com/media/1311146/view/parabolic-mirror-reflecting-light-animation</a:t>
            </a:r>
          </a:p>
        </p:txBody>
      </p:sp>
    </p:spTree>
    <p:extLst>
      <p:ext uri="{BB962C8B-B14F-4D97-AF65-F5344CB8AC3E}">
        <p14:creationId xmlns:p14="http://schemas.microsoft.com/office/powerpoint/2010/main" val="774298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9FD71-4E7A-ED57-EB89-490809E2E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32BA3E5-115F-CFC6-5FF0-13A7F3A3D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1753519B-5CB1-C39B-FCBA-8D6D0621B8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60F05CF-73B6-E6EF-4D9A-FFBA1461C6D1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F6B595-4235-9239-97F0-E25E11CD227B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pic>
        <p:nvPicPr>
          <p:cNvPr id="3" name="Picture 2" descr="Rope Access Maintenance for Hyperbolic Cooling Tower Structures">
            <a:extLst>
              <a:ext uri="{FF2B5EF4-FFF2-40B4-BE49-F238E27FC236}">
                <a16:creationId xmlns:a16="http://schemas.microsoft.com/office/drawing/2014/main" id="{265A6599-479E-8CE7-5F38-8CCF8747C3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786" y="719145"/>
            <a:ext cx="3771900" cy="5641086"/>
          </a:xfrm>
          <a:prstGeom prst="rect">
            <a:avLst/>
          </a:prstGeom>
        </p:spPr>
      </p:pic>
      <p:pic>
        <p:nvPicPr>
          <p:cNvPr id="5" name="Picture 4" descr="Natural Draft Cooling Tower (Natural Draft Cooling Towers) Explained - saVRee - saVRee">
            <a:extLst>
              <a:ext uri="{FF2B5EF4-FFF2-40B4-BE49-F238E27FC236}">
                <a16:creationId xmlns:a16="http://schemas.microsoft.com/office/drawing/2014/main" id="{0B6418B2-8956-3455-1B87-9BEDE1A84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0734" y="606207"/>
            <a:ext cx="4512066" cy="57540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52DB2C-8437-3288-CECE-F7283A8508F0}"/>
              </a:ext>
            </a:extLst>
          </p:cNvPr>
          <p:cNvSpPr txBox="1"/>
          <p:nvPr/>
        </p:nvSpPr>
        <p:spPr>
          <a:xfrm>
            <a:off x="0" y="78018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>
              <a:lnSpc>
                <a:spcPct val="100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Cooling towers</a:t>
            </a:r>
            <a:r>
              <a:rPr lang="en-US" sz="18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→ </a:t>
            </a:r>
            <a:r>
              <a:rPr lang="en-US" sz="18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hyperbolic shapes</a:t>
            </a:r>
            <a:r>
              <a:rPr lang="en-US" sz="1800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100" kern="100" dirty="0">
              <a:solidFill>
                <a:schemeClr val="accent2"/>
              </a:solidFill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059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54BDB7-184A-2DC5-F74A-2BC7EA26B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373268C-FC1E-2170-B274-01B7784AE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BEB57ACA-D061-5263-D07D-199B3AA74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41D9502-C7A0-6AB3-6D03-1BF045D44FF8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CF91F4-E2F8-AD72-7654-DF7086505D6D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AB4512-802A-BF8B-FD16-ED0216D12131}"/>
                  </a:ext>
                </a:extLst>
              </p:cNvPr>
              <p:cNvSpPr txBox="1"/>
              <p:nvPr/>
            </p:nvSpPr>
            <p:spPr>
              <a:xfrm>
                <a:off x="476863" y="272815"/>
                <a:ext cx="9935497" cy="53368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2400" b="1" kern="100" dirty="0">
                    <a:solidFill>
                      <a:schemeClr val="accent2"/>
                    </a:solidFill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When you study equations like: </a:t>
                </a: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24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𝒚</m:t>
                    </m:r>
                    <m:r>
                      <a:rPr lang="en-US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𝒂</m:t>
                    </m:r>
                    <m:sSup>
                      <m:sSupPr>
                        <m:ctrlPr>
                          <a:rPr lang="en-US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𝒃𝒙</m:t>
                    </m:r>
                    <m:r>
                      <a:rPr lang="en-US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𝒄</m:t>
                    </m:r>
                  </m:oMath>
                </a14:m>
                <a:r>
                  <a:rPr lang="en-US" sz="2400" kern="100" dirty="0">
                    <a:effectLst/>
                    <a:latin typeface="Amasis MT Pro" panose="020405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or</a:t>
                </a:r>
                <a:endParaRPr lang="en-US" sz="24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</m:e>
                      <m:sup>
                        <m:r>
                          <a:rPr lang="en-US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  <m:r>
                      <a:rPr lang="en-US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  <m:sup>
                        <m:r>
                          <a:rPr lang="en-US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400" kern="100" dirty="0">
                    <a:effectLst/>
                    <a:latin typeface="Amasis MT Pro" panose="020405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or</a:t>
                </a:r>
                <a:endParaRPr lang="en-US" sz="24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2400" kern="100" dirty="0">
                    <a:effectLst/>
                    <a:latin typeface="Amasis MT Pro" panose="020405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f>
                      <m:fPr>
                        <m:ctrlPr>
                          <a:rPr lang="en-US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sz="2400" kern="100" dirty="0">
                    <a:effectLst/>
                    <a:latin typeface="Amasis MT Pro" panose="020405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:endParaRPr lang="en-US" sz="24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p>
                            <m: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1" i="1" kern="10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𝒚</m:t>
                            </m:r>
                          </m:e>
                          <m:sup>
                            <m: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n-US" sz="2400" b="1" i="1" kern="10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400" b="1" i="1" kern="10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r>
                  <a:rPr lang="en-US" sz="2400" kern="100" dirty="0">
                    <a:effectLst/>
                    <a:latin typeface="Amasis MT Pro" panose="020405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 or </a:t>
                </a:r>
              </a:p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4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4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1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𝟒</m:t>
                      </m:r>
                      <m:r>
                        <a:rPr lang="en-US" sz="2400" b="1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𝒂𝒙</m:t>
                      </m:r>
                    </m:oMath>
                  </m:oMathPara>
                </a14:m>
                <a:endParaRPr lang="en-US" sz="2400" kern="100" dirty="0">
                  <a:latin typeface="Amasis MT Pro" panose="020405040500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algn="just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2400" kern="100" dirty="0">
                    <a:effectLst/>
                    <a:latin typeface="Amasis MT Pro" panose="020405040500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you</a:t>
                </a:r>
                <a:r>
                  <a:rPr lang="en-US" sz="24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are not merely learning an equation—you are learning </a:t>
                </a:r>
                <a:r>
                  <a:rPr lang="en-US" sz="2400" b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mathematical model of a large class of physical phenomena. </a:t>
                </a:r>
                <a:r>
                  <a:rPr lang="en-US" sz="2400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 major reason for studying conics is that they provide </a:t>
                </a:r>
                <a:r>
                  <a:rPr lang="en-US" sz="2400" b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simple mathematical models for complex physical systems.</a:t>
                </a:r>
                <a:endParaRPr lang="en-US" sz="1400" b="1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FAB4512-802A-BF8B-FD16-ED0216D12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863" y="272815"/>
                <a:ext cx="9935497" cy="5336846"/>
              </a:xfrm>
              <a:prstGeom prst="rect">
                <a:avLst/>
              </a:prstGeom>
              <a:blipFill>
                <a:blip r:embed="rId3"/>
                <a:stretch>
                  <a:fillRect l="-920" t="-914" r="-982" b="-1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A9AFC5F-F3C6-570C-9752-166ED2FEADB3}"/>
              </a:ext>
            </a:extLst>
          </p:cNvPr>
          <p:cNvSpPr txBox="1"/>
          <p:nvPr/>
        </p:nvSpPr>
        <p:spPr>
          <a:xfrm>
            <a:off x="5255341" y="1248339"/>
            <a:ext cx="41737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Amasis MT Pro" panose="02040504050005020304" pitchFamily="18" charset="0"/>
              </a:rPr>
              <a:t>These curves are among the most important objects in coordinate geometry because they connect </a:t>
            </a:r>
            <a:r>
              <a:rPr lang="en-US" b="1" dirty="0">
                <a:latin typeface="Amasis MT Pro" panose="02040504050005020304" pitchFamily="18" charset="0"/>
              </a:rPr>
              <a:t>algebra, geometry, calculus, physics, astronomy, engineering, computer graphics, and optimization</a:t>
            </a:r>
            <a:r>
              <a:rPr lang="en-US" dirty="0">
                <a:latin typeface="Amasis MT Pro" panose="020405040500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2084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41BD6C-BA71-60FC-C50F-9E957FB3C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DB50A04-C90C-1841-0383-3CD8620A6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DB89CCCE-FC55-DA43-0592-85B9185D3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A171443-30B9-455D-1B23-3FB2CC8DADC6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F69EFC-1395-E3A0-23F4-1E5B4BFB815A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7147E3-F851-A829-72D0-6C943E5A1EE2}"/>
              </a:ext>
            </a:extLst>
          </p:cNvPr>
          <p:cNvSpPr txBox="1"/>
          <p:nvPr/>
        </p:nvSpPr>
        <p:spPr>
          <a:xfrm>
            <a:off x="693175" y="355548"/>
            <a:ext cx="6105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Geometric Definition of a Conic</a:t>
            </a:r>
            <a:endParaRPr lang="en-US" sz="1100" kern="100" dirty="0">
              <a:solidFill>
                <a:schemeClr val="accent2"/>
              </a:solidFill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932189-4DD3-F1E1-FFE2-34D5CF9ABF8F}"/>
              </a:ext>
            </a:extLst>
          </p:cNvPr>
          <p:cNvSpPr txBox="1"/>
          <p:nvPr/>
        </p:nvSpPr>
        <p:spPr>
          <a:xfrm>
            <a:off x="781665" y="922742"/>
            <a:ext cx="1007314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conic can be </a:t>
            </a:r>
            <a:r>
              <a:rPr lang="en-US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defined as the locus of a point </a:t>
            </a: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whose relationship </a:t>
            </a:r>
            <a:r>
              <a:rPr lang="en-US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with a fixed point and a fixed line satisfies </a:t>
            </a: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particular condition.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53BF3D-F030-B088-A05E-4BA232CDE007}"/>
              </a:ext>
            </a:extLst>
          </p:cNvPr>
          <p:cNvSpPr txBox="1"/>
          <p:nvPr/>
        </p:nvSpPr>
        <p:spPr>
          <a:xfrm>
            <a:off x="693174" y="1828490"/>
            <a:ext cx="9129251" cy="3857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Vertex</a:t>
            </a:r>
            <a:endParaRPr lang="en-US" sz="1800" kern="100" dirty="0">
              <a:solidFill>
                <a:schemeClr val="accent2"/>
              </a:solidFill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vertex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is the point where the parabola changes direction. The vertex is also the point on the parabola </a:t>
            </a: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closest to the directrix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closest to the focus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Focus</a:t>
            </a:r>
            <a:endParaRPr lang="en-US" sz="1800" kern="100" dirty="0">
              <a:solidFill>
                <a:schemeClr val="accent2"/>
              </a:solidFill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focus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is a fixed point associated with the parabola. The focus tells us </a:t>
            </a: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where the parabola is “pointing” toward geometrically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and plays an important role in reflection properties.</a:t>
            </a:r>
          </a:p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Directrix</a:t>
            </a:r>
            <a:endParaRPr lang="en-US" sz="1800" kern="100" dirty="0">
              <a:solidFill>
                <a:schemeClr val="accent2"/>
              </a:solidFill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directrix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is a fixed line associated with the parabola.</a:t>
            </a:r>
            <a:endParaRPr lang="en-US" sz="1100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590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183AE-30F4-698E-6AB4-413AFB95D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AC0C3F2-9265-F98E-E46E-123890C34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8C820AB7-B48D-1CB4-5059-D5EAFC546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5CB1C7-52F0-7506-22F5-E249DA5F4249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C6AB05-B257-0467-B411-7CCACAB705AB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D862A6-5FC4-90D2-6993-C73FA75235B7}"/>
              </a:ext>
            </a:extLst>
          </p:cNvPr>
          <p:cNvSpPr txBox="1"/>
          <p:nvPr/>
        </p:nvSpPr>
        <p:spPr>
          <a:xfrm>
            <a:off x="827789" y="970718"/>
            <a:ext cx="10145011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 </a:t>
            </a: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parabola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is the </a:t>
            </a: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locus of a point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that moves in such a way that its distance from a </a:t>
            </a: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fixed point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is always equal to its perpendicular distance from a </a:t>
            </a: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fixed straight line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fixed point is called the </a:t>
            </a: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focus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fixed straight line is called the </a:t>
            </a: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directrix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marL="342900" marR="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moving point is usually denoted by P (</a:t>
            </a:r>
            <a:r>
              <a:rPr lang="en-US" sz="1800" i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800" i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y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). </a:t>
            </a:r>
          </a:p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Thus, the defining condition is PF = PD </a:t>
            </a:r>
            <a:endParaRPr lang="en-US" sz="1100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753C0F-C741-0EA1-B3AF-1206C6873AF9}"/>
              </a:ext>
            </a:extLst>
          </p:cNvPr>
          <p:cNvSpPr txBox="1"/>
          <p:nvPr/>
        </p:nvSpPr>
        <p:spPr>
          <a:xfrm>
            <a:off x="827789" y="447487"/>
            <a:ext cx="61058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kern="100" dirty="0">
                <a:solidFill>
                  <a:schemeClr val="accent2"/>
                </a:solidFill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</a:t>
            </a:r>
            <a:r>
              <a:rPr lang="en-US" sz="24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arabola</a:t>
            </a:r>
            <a:endParaRPr lang="en-US" sz="2400" dirty="0">
              <a:solidFill>
                <a:schemeClr val="accent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4A1DED-0330-CA3D-132A-517220F273F6}"/>
              </a:ext>
            </a:extLst>
          </p:cNvPr>
          <p:cNvSpPr txBox="1"/>
          <p:nvPr/>
        </p:nvSpPr>
        <p:spPr>
          <a:xfrm>
            <a:off x="824740" y="3429000"/>
            <a:ext cx="6108881" cy="11285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where: </a:t>
            </a:r>
          </a:p>
          <a:p>
            <a:pPr marL="342900" marR="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is the Focus</a:t>
            </a:r>
          </a:p>
          <a:p>
            <a:pPr marL="342900" marR="0" lvl="0" indent="-342900" algn="just">
              <a:lnSpc>
                <a:spcPct val="10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is the foot of the perpendicular from</a:t>
            </a:r>
            <a:r>
              <a:rPr lang="en-US" sz="1800" i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</a:t>
            </a:r>
            <a:r>
              <a:rPr lang="en-US" sz="18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to the directrix.</a:t>
            </a:r>
            <a:endParaRPr lang="en-US" sz="1100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FBFC37-368C-CE6C-AAB4-CFF7646F0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293" y="1941437"/>
            <a:ext cx="3674978" cy="402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50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E2E50E-AB2F-9213-53C0-CDC8D2B64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75188EE-C91D-32B7-3FD7-87463EBB2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1D213D89-FAB3-800F-B4D6-96BC8F57B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EF50F18-734E-8CEF-ED73-070E741A5736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3BDE70-CFAE-B485-A3E2-DF5E028FB217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pic>
        <p:nvPicPr>
          <p:cNvPr id="3" name="Picture 2" descr="Struggling with the equation of a parabola?, The standard forms are [y^2 = 4ax] and [x^2 = 4ay]—these tell you everything about the curve’s shape, focus, and vertex., Master these equations to crack ...">
            <a:extLst>
              <a:ext uri="{FF2B5EF4-FFF2-40B4-BE49-F238E27FC236}">
                <a16:creationId xmlns:a16="http://schemas.microsoft.com/office/drawing/2014/main" id="{A0D8D1D9-402C-C8AF-8A53-E542C2F2CB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5756"/>
          <a:stretch>
            <a:fillRect/>
          </a:stretch>
        </p:blipFill>
        <p:spPr>
          <a:xfrm>
            <a:off x="1325204" y="635243"/>
            <a:ext cx="4245361" cy="4103905"/>
          </a:xfrm>
          <a:prstGeom prst="rect">
            <a:avLst/>
          </a:prstGeom>
        </p:spPr>
      </p:pic>
      <p:pic>
        <p:nvPicPr>
          <p:cNvPr id="6" name="Picture 5" descr="Parabolas with Vertex at the Origin ( Read ) | Analysis | CK-12 Foundation">
            <a:extLst>
              <a:ext uri="{FF2B5EF4-FFF2-40B4-BE49-F238E27FC236}">
                <a16:creationId xmlns:a16="http://schemas.microsoft.com/office/drawing/2014/main" id="{D03C2C4A-2623-FEDA-7F9B-D8A51B2513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1205" y="135224"/>
            <a:ext cx="3263256" cy="26276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C6AEF5-D7F9-529F-2CBD-284B3BE42B99}"/>
                  </a:ext>
                </a:extLst>
              </p:cNvPr>
              <p:cNvSpPr txBox="1"/>
              <p:nvPr/>
            </p:nvSpPr>
            <p:spPr>
              <a:xfrm>
                <a:off x="2610464" y="185966"/>
                <a:ext cx="2875935" cy="5725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p>
                        <m:sSupPr>
                          <m:ctrlPr>
                            <a:rPr lang="en-US" sz="24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4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p>
                          <m:r>
                            <a:rPr lang="en-US" sz="2400" b="1" i="1" kern="10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kern="10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400" b="1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𝟒</m:t>
                      </m:r>
                      <m:r>
                        <a:rPr lang="en-US" sz="2400" b="1" i="1" kern="100" smtClean="0">
                          <a:solidFill>
                            <a:schemeClr val="tx1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𝒂𝒙</m:t>
                      </m:r>
                    </m:oMath>
                  </m:oMathPara>
                </a14:m>
                <a:endParaRPr lang="en-US" sz="2400" kern="100" dirty="0">
                  <a:latin typeface="Amasis MT Pro" panose="020405040500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C6AEF5-D7F9-529F-2CBD-284B3BE42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464" y="185966"/>
                <a:ext cx="2875935" cy="57259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CD2F1BCC-DF32-1F99-3090-06F425C83F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8950" y="4573979"/>
            <a:ext cx="1996677" cy="11559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8542A2-7C7E-4542-9E65-EA69129119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0550" y="5704242"/>
            <a:ext cx="1925077" cy="38120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E3903F7-796A-2BF6-32BC-BFE916CA9031}"/>
              </a:ext>
            </a:extLst>
          </p:cNvPr>
          <p:cNvSpPr txBox="1"/>
          <p:nvPr/>
        </p:nvSpPr>
        <p:spPr>
          <a:xfrm>
            <a:off x="423345" y="4679508"/>
            <a:ext cx="19966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b="1" kern="100" dirty="0">
                <a:solidFill>
                  <a:schemeClr val="accent2"/>
                </a:solidFill>
                <a:effectLst/>
                <a:latin typeface="Amasis MT Pro Medium" panose="020406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 this parabola</a:t>
            </a:r>
            <a:endParaRPr lang="en-US" sz="1100" kern="100" dirty="0">
              <a:solidFill>
                <a:schemeClr val="accent2"/>
              </a:solidFill>
              <a:effectLst/>
              <a:latin typeface="Amasis MT Pro Medium" panose="020406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E64E666-C643-E193-7656-531DB41564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18701" y="5729951"/>
            <a:ext cx="834571" cy="46736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5390AFE-C9E7-C6F0-5358-D6964DDC4AD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7238" y="4468411"/>
            <a:ext cx="1167933" cy="79331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609CF11-FC68-7C94-0917-75C61BFD32A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5171" y="4573979"/>
            <a:ext cx="2139205" cy="59304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36A68FE-4DB6-3051-328B-4D3F3390AD4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21750" y="5437519"/>
            <a:ext cx="1208958" cy="381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26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9DBB6D-8C79-9549-D4BB-6941F00D3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42210DC-7752-A6D0-B752-DF591A8DF5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3CD71228-0001-5961-4F90-2C7AE5E86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82A8FE3-27B5-3AED-D962-6DA9DD91788F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AC9942-21A2-BFDD-C05E-EEDE6A1B3F31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45887C-B370-895F-3F61-C9C5485E9680}"/>
              </a:ext>
            </a:extLst>
          </p:cNvPr>
          <p:cNvSpPr txBox="1"/>
          <p:nvPr/>
        </p:nvSpPr>
        <p:spPr>
          <a:xfrm>
            <a:off x="722671" y="504307"/>
            <a:ext cx="9365226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Eccentricity</a:t>
            </a:r>
          </a:p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The </a:t>
            </a:r>
            <a:r>
              <a:rPr lang="en-US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eccentricity</a:t>
            </a: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usually denoted by </a:t>
            </a:r>
            <a:r>
              <a:rPr lang="en-US" sz="2000" b="1" i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</a:t>
            </a: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, measures how much a conic differs from a circle in terms of its shape. The most general definition is based on the </a:t>
            </a:r>
            <a:r>
              <a:rPr lang="en-US" sz="2000" b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focus and directrix</a:t>
            </a: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US" sz="1200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67BAB6C-8E13-ED12-55FE-16D9E10067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06" y="2106127"/>
            <a:ext cx="4455765" cy="104019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C2E71A-47C8-0796-22B6-4F3EE1CAE6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3002" y="3429000"/>
            <a:ext cx="3110295" cy="18006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08C59DD-79BF-B159-593E-74F773B7647B}"/>
              </a:ext>
            </a:extLst>
          </p:cNvPr>
          <p:cNvSpPr txBox="1"/>
          <p:nvPr/>
        </p:nvSpPr>
        <p:spPr>
          <a:xfrm>
            <a:off x="2979174" y="5512374"/>
            <a:ext cx="71087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Amasis MT Pro" panose="02040504050005020304" pitchFamily="18" charset="0"/>
              </a:rPr>
              <a:t>Note that </a:t>
            </a:r>
            <a:r>
              <a:rPr lang="en-US" sz="2400" dirty="0">
                <a:latin typeface="Amasis MT Pro" panose="02040504050005020304" pitchFamily="18" charset="0"/>
              </a:rPr>
              <a:t>a circle has </a:t>
            </a:r>
            <a:r>
              <a:rPr lang="en-US" sz="2400" b="1" dirty="0">
                <a:latin typeface="Amasis MT Pro" panose="02040504050005020304" pitchFamily="18" charset="0"/>
              </a:rPr>
              <a:t>no eccentricity  </a:t>
            </a:r>
            <a:r>
              <a:rPr lang="en-US" sz="2400" b="1" i="1" dirty="0">
                <a:latin typeface="Amasis MT Pro" panose="02040504050005020304" pitchFamily="18" charset="0"/>
              </a:rPr>
              <a:t>e = </a:t>
            </a:r>
            <a:r>
              <a:rPr lang="en-US" sz="2400" b="1" dirty="0">
                <a:latin typeface="Amasis MT Pro" panose="02040504050005020304" pitchFamily="18" charset="0"/>
              </a:rPr>
              <a:t>0</a:t>
            </a:r>
            <a:endParaRPr lang="en-US" sz="24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237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D86F70-35B2-4586-2AEA-230AD38B5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6A426C1-7AC0-DA7F-9E13-4B307525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ACEACDF2-A2DF-F9F9-DBDE-9E3630BA4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44ECB9-29F7-1C5E-F5E7-475E52545852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92F9A0-507A-BFDF-2B56-F032C08D4062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pic>
        <p:nvPicPr>
          <p:cNvPr id="3" name="Picture 2" descr="https://images.openai.com/static-rsc-4/5nbWFeIOY74QohJRQro99kF4rXkJKprkhRRWtB2691uhvqZS43J1F7QbxzDMrYc5665raewjnew4ymsK3mkLYdUB2R9WLlClwSMqoxuBNJ99J1Juva18-iYO069JvAGPhgrtsRWmostNtmOpA_YVznfvJpkxP5vQuoRZWfLJ5wiBmukAGGsiwDPc1QSdpbCl?purpose=fullsize">
            <a:extLst>
              <a:ext uri="{FF2B5EF4-FFF2-40B4-BE49-F238E27FC236}">
                <a16:creationId xmlns:a16="http://schemas.microsoft.com/office/drawing/2014/main" id="{FFE12276-A5E7-1DC5-7149-FACE375FB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848" y="3039179"/>
            <a:ext cx="4094285" cy="30669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044FF1-8E65-3BDA-B1F5-1842A5AF3BF1}"/>
              </a:ext>
            </a:extLst>
          </p:cNvPr>
          <p:cNvSpPr txBox="1"/>
          <p:nvPr/>
        </p:nvSpPr>
        <p:spPr>
          <a:xfrm>
            <a:off x="408035" y="1648788"/>
            <a:ext cx="493088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chemeClr val="accent2"/>
                </a:solidFill>
                <a:latin typeface="Amasis MT Pro" panose="02040504050005020304" pitchFamily="18" charset="0"/>
              </a:rPr>
              <a:t>OR</a:t>
            </a:r>
          </a:p>
          <a:p>
            <a:pPr algn="just"/>
            <a:r>
              <a:rPr lang="en-US" sz="2000" dirty="0">
                <a:latin typeface="Amasis MT Pro" panose="02040504050005020304" pitchFamily="18" charset="0"/>
              </a:rPr>
              <a:t>An </a:t>
            </a:r>
            <a:r>
              <a:rPr lang="en-US" sz="2000" b="1" dirty="0">
                <a:latin typeface="Amasis MT Pro" panose="02040504050005020304" pitchFamily="18" charset="0"/>
              </a:rPr>
              <a:t>ellipse</a:t>
            </a:r>
            <a:r>
              <a:rPr lang="en-US" sz="2000" dirty="0">
                <a:latin typeface="Amasis MT Pro" panose="02040504050005020304" pitchFamily="18" charset="0"/>
              </a:rPr>
              <a:t> is the </a:t>
            </a:r>
            <a:r>
              <a:rPr lang="en-US" sz="2000" b="1" dirty="0">
                <a:latin typeface="Amasis MT Pro" panose="02040504050005020304" pitchFamily="18" charset="0"/>
              </a:rPr>
              <a:t>locus of a point</a:t>
            </a:r>
            <a:r>
              <a:rPr lang="en-US" sz="2000" dirty="0">
                <a:latin typeface="Amasis MT Pro" panose="02040504050005020304" pitchFamily="18" charset="0"/>
              </a:rPr>
              <a:t> that moves in a plane such that the </a:t>
            </a:r>
            <a:r>
              <a:rPr lang="en-US" sz="2000" b="1" dirty="0">
                <a:latin typeface="Amasis MT Pro" panose="02040504050005020304" pitchFamily="18" charset="0"/>
              </a:rPr>
              <a:t>sum of its distances from two fixed points is always constant</a:t>
            </a:r>
            <a:r>
              <a:rPr lang="en-US" sz="2000" dirty="0">
                <a:latin typeface="Amasis MT Pro" panose="020405040500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2ED009-FA8A-A4EE-57EE-3257BF796466}"/>
              </a:ext>
            </a:extLst>
          </p:cNvPr>
          <p:cNvSpPr txBox="1"/>
          <p:nvPr/>
        </p:nvSpPr>
        <p:spPr>
          <a:xfrm>
            <a:off x="517714" y="570326"/>
            <a:ext cx="614855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 ellipse is the locus of a point such that its distance from a fixed point (focus) divided by its perpendicular distance from a fixed line (directrix) is a constant </a:t>
            </a:r>
            <a:r>
              <a:rPr lang="en-US" sz="2000" i="1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e.</a:t>
            </a:r>
            <a:r>
              <a:rPr lang="en-US" sz="2000" kern="100" dirty="0"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n-US" sz="1200" kern="100" dirty="0">
              <a:effectLst/>
              <a:latin typeface="Amasis MT Pro" panose="020405040500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6F0C7E-161B-B628-C24A-F08DAAED3762}"/>
              </a:ext>
            </a:extLst>
          </p:cNvPr>
          <p:cNvSpPr txBox="1"/>
          <p:nvPr/>
        </p:nvSpPr>
        <p:spPr>
          <a:xfrm>
            <a:off x="517714" y="15575"/>
            <a:ext cx="14994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Ellipse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A8DE030-C895-93D7-51E7-03BBD8583A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8967" y="764484"/>
            <a:ext cx="3782793" cy="230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685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8F14F-3077-386F-D324-0E736A49F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570D43C-8EDA-A3CD-588E-9F2AC2683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2438A348-9AAB-6F88-771A-F54D42B0A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DA40392-1AFA-A930-C910-598785F48EC0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184842-43B2-E5DA-D40C-3DF83B4E82E2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DB4F80-BFD4-F4B2-181A-7C193E983331}"/>
                  </a:ext>
                </a:extLst>
              </p:cNvPr>
              <p:cNvSpPr txBox="1"/>
              <p:nvPr/>
            </p:nvSpPr>
            <p:spPr>
              <a:xfrm>
                <a:off x="5765689" y="1190944"/>
                <a:ext cx="4947151" cy="8824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Foci                :  (-ae, 0) and ( ae, 0)</a:t>
                </a:r>
                <a:endParaRPr lang="en-US" sz="18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0000"/>
                  </a:lnSpc>
                  <a:spcAft>
                    <a:spcPts val="800"/>
                  </a:spcAft>
                  <a:buNone/>
                </a:pPr>
                <a:r>
                  <a:rPr lang="en-US" sz="1800" b="1" kern="100" dirty="0">
                    <a:effectLst/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Directrices </a:t>
                </a:r>
                <a14:m>
                  <m:oMath xmlns:m="http://schemas.openxmlformats.org/officeDocument/2006/math">
                    <m:r>
                      <a:rPr lang="en-US" sz="2000" b="1" i="0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    :  </m:t>
                    </m:r>
                    <m:r>
                      <a:rPr lang="en-US" sz="2000" b="1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𝑿</m:t>
                    </m:r>
                    <m:r>
                      <a:rPr lang="en-US" sz="2000" b="1" i="1" kern="10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=±</m:t>
                    </m:r>
                    <m:f>
                      <m:fPr>
                        <m:ctrlPr>
                          <a:rPr lang="en-US" sz="20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0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</m:num>
                      <m:den>
                        <m:r>
                          <a:rPr lang="en-US" sz="2000" b="1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𝒆</m:t>
                        </m:r>
                      </m:den>
                    </m:f>
                  </m:oMath>
                </a14:m>
                <a:endParaRPr lang="en-US" sz="11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1DB4F80-BFD4-F4B2-181A-7C193E9833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689" y="1190944"/>
                <a:ext cx="4947151" cy="882421"/>
              </a:xfrm>
              <a:prstGeom prst="rect">
                <a:avLst/>
              </a:prstGeom>
              <a:blipFill>
                <a:blip r:embed="rId3"/>
                <a:stretch>
                  <a:fillRect l="-1110" t="-3448" b="-1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742B28-FA1E-A41C-3D93-7A4B66E897BF}"/>
                  </a:ext>
                </a:extLst>
              </p:cNvPr>
              <p:cNvSpPr txBox="1"/>
              <p:nvPr/>
            </p:nvSpPr>
            <p:spPr>
              <a:xfrm>
                <a:off x="6139991" y="2768865"/>
                <a:ext cx="3524865" cy="91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0" i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1" i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b="0" i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𝒂</m:t>
                                  </m:r>
                                </m:e>
                                <m:sup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4742B28-FA1E-A41C-3D93-7A4B66E897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991" y="2768865"/>
                <a:ext cx="3524865" cy="9106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B8491E5-51CB-82FF-0AB4-F1898AE52C57}"/>
              </a:ext>
            </a:extLst>
          </p:cNvPr>
          <p:cNvSpPr txBox="1"/>
          <p:nvPr/>
        </p:nvSpPr>
        <p:spPr>
          <a:xfrm>
            <a:off x="586540" y="15575"/>
            <a:ext cx="14994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kern="100" dirty="0">
                <a:solidFill>
                  <a:schemeClr val="accent2"/>
                </a:solidFill>
                <a:effectLst/>
                <a:latin typeface="Amasis MT Pro" panose="020405040500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Ellipse</a:t>
            </a:r>
            <a:endParaRPr lang="en-US" sz="2000" b="1" dirty="0">
              <a:solidFill>
                <a:schemeClr val="accent2"/>
              </a:solidFill>
            </a:endParaRPr>
          </a:p>
        </p:txBody>
      </p:sp>
      <p:pic>
        <p:nvPicPr>
          <p:cNvPr id="14" name="Picture 13" descr="Directrix Of Ellipse - Definition, Formula, Properties, Examples, FAQs">
            <a:extLst>
              <a:ext uri="{FF2B5EF4-FFF2-40B4-BE49-F238E27FC236}">
                <a16:creationId xmlns:a16="http://schemas.microsoft.com/office/drawing/2014/main" id="{69E69E25-C817-2A9A-1751-A4C72AA4AF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256"/>
          <a:stretch>
            <a:fillRect/>
          </a:stretch>
        </p:blipFill>
        <p:spPr>
          <a:xfrm>
            <a:off x="517714" y="3023011"/>
            <a:ext cx="4645950" cy="31726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09BB743-8532-EBB9-6280-D9B6EC21EA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712" y="605520"/>
            <a:ext cx="3524866" cy="228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982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3B0FD7-1AA6-6022-2389-8E9AD4E62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A570FAD-63B5-A1A7-7864-D9B182CD6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2" descr="Quality Education – Sustainability at UIU">
            <a:extLst>
              <a:ext uri="{FF2B5EF4-FFF2-40B4-BE49-F238E27FC236}">
                <a16:creationId xmlns:a16="http://schemas.microsoft.com/office/drawing/2014/main" id="{008C17C5-4311-0C5A-41D6-5383D60E2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0" y="114258"/>
            <a:ext cx="1137920" cy="390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D425A09-2DEA-8170-0C93-3FFC65BA9DD4}"/>
              </a:ext>
            </a:extLst>
          </p:cNvPr>
          <p:cNvSpPr/>
          <p:nvPr/>
        </p:nvSpPr>
        <p:spPr>
          <a:xfrm>
            <a:off x="0" y="6390640"/>
            <a:ext cx="12192000" cy="46736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342CE8-BB08-EF3B-E457-5EE05F0828EA}"/>
              </a:ext>
            </a:extLst>
          </p:cNvPr>
          <p:cNvSpPr txBox="1"/>
          <p:nvPr/>
        </p:nvSpPr>
        <p:spPr>
          <a:xfrm>
            <a:off x="267349" y="309282"/>
            <a:ext cx="10145011" cy="13228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 dirty="0">
              <a:solidFill>
                <a:schemeClr val="accent2"/>
              </a:solidFill>
              <a:latin typeface="Amasis MT Pro" panose="02040504050005020304" pitchFamily="18" charset="0"/>
              <a:ea typeface="+mj-ea"/>
              <a:cs typeface="+mj-cs"/>
            </a:endParaRPr>
          </a:p>
        </p:txBody>
      </p:sp>
      <p:pic>
        <p:nvPicPr>
          <p:cNvPr id="3" name="Picture 2" descr="Directrix of Hyperbola - Formula, Examples, and Diagrams">
            <a:extLst>
              <a:ext uri="{FF2B5EF4-FFF2-40B4-BE49-F238E27FC236}">
                <a16:creationId xmlns:a16="http://schemas.microsoft.com/office/drawing/2014/main" id="{E12B9C79-75FB-E15A-386D-523246EE0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401" y="114257"/>
            <a:ext cx="5051168" cy="60866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52E8-BAFB-D816-1B11-7E322A6047CB}"/>
              </a:ext>
            </a:extLst>
          </p:cNvPr>
          <p:cNvSpPr txBox="1"/>
          <p:nvPr/>
        </p:nvSpPr>
        <p:spPr>
          <a:xfrm>
            <a:off x="547721" y="78449"/>
            <a:ext cx="14994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  <a:latin typeface="Amasis MT Pro" panose="02040504050005020304" pitchFamily="18" charset="0"/>
              </a:rPr>
              <a:t>Hyperbola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9A94EF-05D1-E6F2-2AB1-A00D203B18A4}"/>
                  </a:ext>
                </a:extLst>
              </p:cNvPr>
              <p:cNvSpPr txBox="1"/>
              <p:nvPr/>
            </p:nvSpPr>
            <p:spPr>
              <a:xfrm>
                <a:off x="8762409" y="5530956"/>
                <a:ext cx="3026468" cy="4516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en-US" sz="1600" b="1" kern="100" dirty="0">
                    <a:latin typeface="Amasis MT Pro" panose="02040504050005020304" pitchFamily="18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Asymptotes      :   </a:t>
                </a:r>
                <a14:m>
                  <m:oMath xmlns:m="http://schemas.openxmlformats.org/officeDocument/2006/math">
                    <m:r>
                      <a:rPr lang="en-US" sz="1600" b="1" i="0" kern="100" smtClean="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𝐲</m:t>
                    </m:r>
                    <m:r>
                      <a:rPr lang="en-US" sz="1600" b="1" i="1" kern="100"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=±</m:t>
                    </m:r>
                    <m:f>
                      <m:fPr>
                        <m:ctrlPr>
                          <a:rPr lang="en-US" sz="1600" b="1" i="1" kern="1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600" b="1" i="1" kern="1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𝒃</m:t>
                        </m:r>
                      </m:num>
                      <m:den>
                        <m:r>
                          <a:rPr lang="en-US" sz="1600" b="1" i="1" kern="100" smtClean="0"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</m:den>
                    </m:f>
                  </m:oMath>
                </a14:m>
                <a:endParaRPr lang="en-US" sz="1600" kern="100" dirty="0">
                  <a:effectLst/>
                  <a:latin typeface="Amasis MT Pro" panose="02040504050005020304" pitchFamily="18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79A94EF-05D1-E6F2-2AB1-A00D203B1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2409" y="5530956"/>
                <a:ext cx="3026468" cy="451662"/>
              </a:xfrm>
              <a:prstGeom prst="rect">
                <a:avLst/>
              </a:prstGeom>
              <a:blipFill>
                <a:blip r:embed="rId4"/>
                <a:stretch>
                  <a:fillRect l="-1006" b="-4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30BACD13-6C43-1014-702A-018CAFB53A3E}"/>
              </a:ext>
            </a:extLst>
          </p:cNvPr>
          <p:cNvSpPr txBox="1"/>
          <p:nvPr/>
        </p:nvSpPr>
        <p:spPr>
          <a:xfrm>
            <a:off x="339213" y="787841"/>
            <a:ext cx="50219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800" dirty="0">
                <a:effectLst/>
                <a:latin typeface="Amasis MT Pro" panose="02040504050005020304" pitchFamily="18" charset="0"/>
                <a:ea typeface="Aptos" panose="020B0004020202020204" pitchFamily="34" charset="0"/>
              </a:rPr>
              <a:t>A </a:t>
            </a:r>
            <a:r>
              <a:rPr lang="en-US" sz="1800" b="1" dirty="0">
                <a:effectLst/>
                <a:latin typeface="Amasis MT Pro" panose="02040504050005020304" pitchFamily="18" charset="0"/>
                <a:ea typeface="Aptos" panose="020B0004020202020204" pitchFamily="34" charset="0"/>
              </a:rPr>
              <a:t>hyperbola</a:t>
            </a:r>
            <a:r>
              <a:rPr lang="en-US" sz="1800" dirty="0">
                <a:effectLst/>
                <a:latin typeface="Amasis MT Pro" panose="02040504050005020304" pitchFamily="18" charset="0"/>
                <a:ea typeface="Aptos" panose="020B0004020202020204" pitchFamily="34" charset="0"/>
              </a:rPr>
              <a:t> is the locus of a point such that its distance from a fixed point (focus) divided by its perpendicular distance from a fixed line (directrix) is a constant </a:t>
            </a:r>
            <a:endParaRPr lang="en-US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07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4049</TotalTime>
  <Words>642</Words>
  <Application>Microsoft Office PowerPoint</Application>
  <PresentationFormat>Widescreen</PresentationFormat>
  <Paragraphs>65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Amasis MT Pro</vt:lpstr>
      <vt:lpstr>Amasis MT Pro Medium</vt:lpstr>
      <vt:lpstr>Aptos</vt:lpstr>
      <vt:lpstr>Aptos Display</vt:lpstr>
      <vt:lpstr>Arial</vt:lpstr>
      <vt:lpstr>Cambria Math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Jashodhan Saha</dc:creator>
  <cp:lastModifiedBy>Jashodhan Saha</cp:lastModifiedBy>
  <cp:revision>5</cp:revision>
  <dcterms:created xsi:type="dcterms:W3CDTF">2026-08-27T12:30:57Z</dcterms:created>
  <dcterms:modified xsi:type="dcterms:W3CDTF">2026-09-02T03:18:10Z</dcterms:modified>
</cp:coreProperties>
</file>