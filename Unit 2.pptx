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22DB-A6D4-7A79-DF34-3887303C6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800B0-6E28-4F6C-1B5E-95CF49B5C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7E902-C9B1-C192-D6C7-650804F6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D6D55-5F07-047E-F2D6-86FD35E4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666A0-0CAF-5837-8F74-0AAC9F42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D773-8C01-A3D8-B414-18F9D749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3CAB-82AE-79E1-4400-D7DBEA24D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BBE6-328F-DCCC-31B2-8CA99E47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5CD44-A797-6712-B545-10F76733C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40A0-A7BD-8881-22BB-772E34B8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4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1397-9F01-2856-921B-8BC07219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0ACD1-539B-6835-C193-77BE01D5E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0DF93-BC01-B4A0-16FA-D446C032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03F53-5D4E-809A-B392-00178B99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AFF63-A753-E614-AEA8-6768D96A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2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EED7-D414-125D-53A9-90F4195B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B31F-4FB6-8F9C-4602-A17E0B680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20824-61EC-E4D8-3DC0-5C90DF042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FAEFF-1C55-A2E4-EDAC-8402533B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3618D-8751-9BC7-EA15-FFBF4B34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78695-9A6B-FB68-BC2F-5651271A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1F92-A2F1-E92E-BA3C-A1EFE80E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8E9C2-3F6D-DB27-36B5-6F8C5FE93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B08B5-F0B3-355E-994D-F492DF4F9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992DF-0425-E6C2-4158-4C0DD5679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5F8EE-ED3A-0142-586C-172F0F97E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99316-2EA2-B65A-025B-CD1F24BA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83C6B-0EE2-B480-F363-81DADE7C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78592-23EB-C31A-ED91-4C471502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9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42FC-4721-1001-3062-A81F3075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6B641-C61E-2D29-5065-862C8264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F9974-8DF4-FED1-3FA3-604881E3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7DCB-5BD5-0FDA-9BEE-B15879BA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0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A4243-A65A-2908-5C61-DB839795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8F4EB-262C-85EA-E1BA-274F316E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F7058-DFCD-D1E4-C608-F60F10F0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7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CE43-2864-AC2E-1DD7-A8FC51DC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CC65-E0A8-17C4-2E9A-217D32B1C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85318-E11E-D082-0DA8-F9953810E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6E92C-FF71-1B29-7EC0-AF65D31A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3DA8-F2B7-9ABB-E659-0F281678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8293F-7788-94BA-052D-716DA95D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7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4706-5A8E-7427-57AC-9CD15F24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EBCF2-16B1-FCA9-5EAE-AFA64A0D0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1E6E8-3D35-0E76-E69D-9BB681872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66BE5-0683-09BB-06DB-2E580586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3F975-2FC4-F48F-650C-1265A4D4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56D5C-53AB-CE80-6BDA-465B520B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7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D2C5-C60A-E4EC-E05D-2F9FCF3B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C2356-7387-BD92-51F6-FCDD24838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BAA12-A04E-5B0D-E8A5-8DC6999A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05FFA-4C22-CADE-97D7-FB2BB372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BC8B9-72C9-2EB8-7C6B-07683231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7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EDABE-46FB-A4EE-4A51-2B8C455B4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A543C-D912-E118-6C4A-0FD7BE8DF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CD2D-C2E1-D46C-6954-F07FF0E2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EC9E1-ED30-E7D2-828E-7E1F930F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675FC-DE42-26FE-D096-61A97F29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9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6D146-4B60-4400-0165-21EB204D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105EA-4C61-5D7B-EE20-D78060CDE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AD0EE-7D0A-B5C8-BFCC-20C718650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52EC0-2994-4F0F-B29F-9C0CFA84359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BC300-A0C5-5CC7-F078-81C188704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E4F20-B7AD-95A3-B1E7-D2FA925E2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665F5-F679-4F42-AB22-41E88E96C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3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ED5B-0E56-9BF2-AFC3-8D25003F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A6C35D6-BD75-61A9-9ED7-FB6793E6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0D2C40-6886-F8FC-EE84-F782FCB7F999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91BDF-72D7-8444-694A-2B22D1979924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2"/>
                </a:solidFill>
                <a:latin typeface="Amasis MT Pro" panose="02040504050005020304" pitchFamily="18" charset="0"/>
                <a:ea typeface="+mj-ea"/>
                <a:cs typeface="+mj-cs"/>
              </a:rPr>
              <a:t>Vector-Valued Functions, Space Curves, Arc Length and Curvature</a:t>
            </a: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02B8A-B458-9A61-C8CE-A54B0AE7DFE9}"/>
              </a:ext>
            </a:extLst>
          </p:cNvPr>
          <p:cNvSpPr txBox="1"/>
          <p:nvPr/>
        </p:nvSpPr>
        <p:spPr>
          <a:xfrm>
            <a:off x="663676" y="1651820"/>
            <a:ext cx="9915831" cy="1395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topics form an important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bridge between vector algebra and multivariable calculus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They allow us to describe the motion of an object in three-dimensional space and analyze not only where it is, but also how fast it moves, in which direction it moves, how far it travels, and how sharply its path bends.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4826E-65CE-A5B4-BFC9-A027C573209E}"/>
              </a:ext>
            </a:extLst>
          </p:cNvPr>
          <p:cNvSpPr txBox="1"/>
          <p:nvPr/>
        </p:nvSpPr>
        <p:spPr>
          <a:xfrm>
            <a:off x="663676" y="3510204"/>
            <a:ext cx="5029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vector-valued function is a mathematical rule that takes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real number input </a:t>
            </a:r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(like time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</a:t>
            </a:r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and </a:t>
            </a:r>
            <a:r>
              <a:rPr lang="en-US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outputs a vector. </a:t>
            </a:r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It maps a single-variable parameter to multi-dimensional coordinates, defining paths like lines, circles, or helixes in 2D or 3D space.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7919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BBBA-B8A5-C83D-F0A4-7B4302C9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26169354-9D71-C41D-CFA1-F24159031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F379B2-2B5A-BF94-2F86-DA4203F79BB0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8EFF7-2EEA-E3AF-D5EE-527FF3AD3651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F32D8-9E42-9DC3-D957-1A775E8E9FF8}"/>
                  </a:ext>
                </a:extLst>
              </p:cNvPr>
              <p:cNvSpPr txBox="1"/>
              <p:nvPr/>
            </p:nvSpPr>
            <p:spPr>
              <a:xfrm>
                <a:off x="1086464" y="1278086"/>
                <a:ext cx="9886335" cy="2879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vector-valued function of a real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is a function whose output is a vector.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three dimensions,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borderBox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borderBox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 equivalently,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                         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=(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Here: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R="0" lvl="0" algn="just">
                  <a:lnSpc>
                    <a:spcPct val="107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is usually called the </a:t>
                </a:r>
                <a:r>
                  <a:rPr lang="en-US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parameter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R="0" lvl="0" algn="just">
                  <a:lnSpc>
                    <a:spcPct val="107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are scalar functions. 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R="0" lvl="0" algn="just">
                  <a:lnSpc>
                    <a:spcPct val="107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represents a point in three-dimensional space.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AF32D8-9E42-9DC3-D957-1A775E8E9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464" y="1278086"/>
                <a:ext cx="9886335" cy="2879956"/>
              </a:xfrm>
              <a:prstGeom prst="rect">
                <a:avLst/>
              </a:prstGeom>
              <a:blipFill>
                <a:blip r:embed="rId3"/>
                <a:stretch>
                  <a:fillRect l="-493" t="-1271" b="-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DFF954-E527-D22D-DBE4-F9C938123A55}"/>
              </a:ext>
            </a:extLst>
          </p:cNvPr>
          <p:cNvSpPr txBox="1"/>
          <p:nvPr/>
        </p:nvSpPr>
        <p:spPr>
          <a:xfrm>
            <a:off x="968477" y="589718"/>
            <a:ext cx="3436375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Vector-Valued Functions</a:t>
            </a:r>
            <a:endParaRPr lang="en-US" sz="20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8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0B1A-DEB4-5EB9-D1A3-903159A9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52777E4E-4E33-327D-78AE-27EF4DA20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D66559-6FE4-6C4C-D052-6DE4CE582CE9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EFBA71-A7EE-B879-E56E-A72C00E3055E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CC8E3-C2C2-3F77-F932-84A2200A9851}"/>
              </a:ext>
            </a:extLst>
          </p:cNvPr>
          <p:cNvSpPr txBox="1"/>
          <p:nvPr/>
        </p:nvSpPr>
        <p:spPr>
          <a:xfrm>
            <a:off x="663677" y="309282"/>
            <a:ext cx="3436375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Vector-Valued Functions</a:t>
            </a:r>
            <a:endParaRPr lang="en-US" sz="20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ED4077-45D7-75D1-3693-C3389839AA65}"/>
                  </a:ext>
                </a:extLst>
              </p:cNvPr>
              <p:cNvSpPr txBox="1"/>
              <p:nvPr/>
            </p:nvSpPr>
            <p:spPr>
              <a:xfrm>
                <a:off x="791497" y="970718"/>
                <a:ext cx="6105832" cy="1539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vector-valued function</a:t>
                </a: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can be written in several equivalent forms</a:t>
                </a: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( </m:t>
                        </m:r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unc>
                      <m:funcPr>
                        <m:ctrl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func>
                    <m:r>
                      <a:rPr lang="en-US" sz="16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1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          </a:t>
                </a:r>
                <a:r>
                  <a:rPr lang="en-US" sz="16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600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</m:func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𝒛</m:t>
                    </m:r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  <m:r>
                      <a:rPr lang="en-US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US" sz="1600" b="1" i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ED4077-45D7-75D1-3693-C3389839A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97" y="970718"/>
                <a:ext cx="6105832" cy="1539139"/>
              </a:xfrm>
              <a:prstGeom prst="rect">
                <a:avLst/>
              </a:prstGeom>
              <a:blipFill>
                <a:blip r:embed="rId3"/>
                <a:stretch>
                  <a:fillRect l="-599" t="-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70D98C-C16D-79E7-E17C-DBBB390E50FE}"/>
                  </a:ext>
                </a:extLst>
              </p:cNvPr>
              <p:cNvSpPr txBox="1"/>
              <p:nvPr/>
            </p:nvSpPr>
            <p:spPr>
              <a:xfrm>
                <a:off x="663677" y="2326457"/>
                <a:ext cx="8627806" cy="1019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solidFill>
                      <a:schemeClr val="accent4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Unit Vector/</a:t>
                </a:r>
                <a:r>
                  <a:rPr lang="en-US" kern="100" dirty="0">
                    <a:solidFill>
                      <a:schemeClr val="accent4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b="1" kern="100" dirty="0">
                    <a:solidFill>
                      <a:schemeClr val="accent4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Position-Vector Form </a:t>
                </a:r>
                <a:r>
                  <a:rPr lang="en-US" b="1" kern="100" dirty="0" err="1">
                    <a:solidFill>
                      <a:schemeClr val="accent4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Form</a:t>
                </a:r>
                <a:r>
                  <a:rPr lang="en-US" b="1" kern="100" dirty="0">
                    <a:solidFill>
                      <a:schemeClr val="accent4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same function can be written using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borderBox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 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borderBox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70D98C-C16D-79E7-E17C-DBBB390E5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77" y="2326457"/>
                <a:ext cx="8627806" cy="1019638"/>
              </a:xfrm>
              <a:prstGeom prst="rect">
                <a:avLst/>
              </a:prstGeom>
              <a:blipFill>
                <a:blip r:embed="rId4"/>
                <a:stretch>
                  <a:fillRect l="-636" t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BC7ACAE-2FCE-6E69-4240-F1AF775923B7}"/>
              </a:ext>
            </a:extLst>
          </p:cNvPr>
          <p:cNvSpPr txBox="1"/>
          <p:nvPr/>
        </p:nvSpPr>
        <p:spPr>
          <a:xfrm>
            <a:off x="663677" y="3573566"/>
            <a:ext cx="610583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kern="1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Parametric Form</a:t>
            </a:r>
            <a:endParaRPr lang="en-US" kern="100" dirty="0">
              <a:solidFill>
                <a:schemeClr val="accent4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5A7C78-FBAC-AA49-B2A9-8F3EBE8CF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978" y="3644002"/>
            <a:ext cx="1099247" cy="132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4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2B92-E25D-A011-62D8-3CF28C3E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39BC4B1-FBD8-D97E-08BA-72C960ED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7F5901-75CC-8BC7-63AB-17D03FE800C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C7C70A-4FFF-20DF-51F8-1964FA42A373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225DC-7294-2D89-99BE-AD945F6F2B52}"/>
              </a:ext>
            </a:extLst>
          </p:cNvPr>
          <p:cNvSpPr txBox="1"/>
          <p:nvPr/>
        </p:nvSpPr>
        <p:spPr>
          <a:xfrm>
            <a:off x="663677" y="309282"/>
            <a:ext cx="639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Differentiation of vector valued function: 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DA350-98E9-E98C-942D-19884B30B282}"/>
              </a:ext>
            </a:extLst>
          </p:cNvPr>
          <p:cNvSpPr txBox="1"/>
          <p:nvPr/>
        </p:nvSpPr>
        <p:spPr>
          <a:xfrm>
            <a:off x="791496" y="970718"/>
            <a:ext cx="962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derivative of a vector-valued function is found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differentiating each of its component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individually with respect to the 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5CECE-DB88-B5A3-C314-96480FA4EEF2}"/>
                  </a:ext>
                </a:extLst>
              </p:cNvPr>
              <p:cNvSpPr txBox="1"/>
              <p:nvPr/>
            </p:nvSpPr>
            <p:spPr>
              <a:xfrm>
                <a:off x="808703" y="1941964"/>
                <a:ext cx="8453284" cy="132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a vector-valued function is defined as: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its derivative is defined as </a:t>
                </a:r>
                <a:br>
                  <a:rPr lang="en-US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en-US" sz="16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C5CECE-DB88-B5A3-C314-96480FA4E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3" y="1941964"/>
                <a:ext cx="8453284" cy="1324658"/>
              </a:xfrm>
              <a:prstGeom prst="rect">
                <a:avLst/>
              </a:prstGeom>
              <a:blipFill>
                <a:blip r:embed="rId3"/>
                <a:stretch>
                  <a:fillRect l="-433" t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E395B16-B365-F213-4436-CFBC3FE48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393" y="3429000"/>
            <a:ext cx="5982167" cy="290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3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F355-9C13-5806-AA5F-69CBCAAC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A3A427A-68B4-ADFC-43B8-A9842A9FF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B64BC76-266C-A3F9-8453-3468E875E463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41796-F5AA-52BF-15D0-F63D0DAAF15D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41CDF-5BDC-8D52-0BEB-32CCBA976EF1}"/>
              </a:ext>
            </a:extLst>
          </p:cNvPr>
          <p:cNvSpPr txBox="1"/>
          <p:nvPr/>
        </p:nvSpPr>
        <p:spPr>
          <a:xfrm>
            <a:off x="563751" y="309282"/>
            <a:ext cx="639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Length of a Vector-Valued Space Curve 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382BD-55E4-E2F1-E1C1-CC6C9EFCEF4A}"/>
              </a:ext>
            </a:extLst>
          </p:cNvPr>
          <p:cNvSpPr txBox="1"/>
          <p:nvPr/>
        </p:nvSpPr>
        <p:spPr>
          <a:xfrm>
            <a:off x="563751" y="816199"/>
            <a:ext cx="9928601" cy="871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arc length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 a curve is the actual distance measured 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along the curve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between two points.  For a straight line, we can use the distance formula. But for a curved path, the distance is not simply the straight-line distance between the endpoints. Arc length gives us the </a:t>
            </a: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actual length of the curved path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3AA23-B559-870A-9537-60F56F159805}"/>
              </a:ext>
            </a:extLst>
          </p:cNvPr>
          <p:cNvSpPr txBox="1"/>
          <p:nvPr/>
        </p:nvSpPr>
        <p:spPr>
          <a:xfrm>
            <a:off x="509506" y="1955244"/>
            <a:ext cx="2458419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Consider a space curve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F19689-44FD-F1FB-6D24-DB90C76F4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622" y="1849240"/>
            <a:ext cx="2045845" cy="4224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19DB4F-524B-D818-123E-8DC1E5A8F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430" y="1955244"/>
            <a:ext cx="1063323" cy="2981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F96697-8A97-DACF-D249-78827B2886C3}"/>
                  </a:ext>
                </a:extLst>
              </p:cNvPr>
              <p:cNvSpPr txBox="1"/>
              <p:nvPr/>
            </p:nvSpPr>
            <p:spPr>
              <a:xfrm>
                <a:off x="625745" y="2466726"/>
                <a:ext cx="6102456" cy="800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For a small change in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𝑑𝑟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𝑑𝑧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br>
                  <a:rPr lang="en-US" i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F96697-8A97-DACF-D249-78827B288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45" y="2466726"/>
                <a:ext cx="6102456" cy="800219"/>
              </a:xfrm>
              <a:prstGeom prst="rect">
                <a:avLst/>
              </a:prstGeom>
              <a:blipFill>
                <a:blip r:embed="rId5"/>
                <a:stretch>
                  <a:fillRect l="-899" t="-4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662EC87-B9AF-C0AE-82DB-CA5E3D26ADEE}"/>
              </a:ext>
            </a:extLst>
          </p:cNvPr>
          <p:cNvSpPr txBox="1"/>
          <p:nvPr/>
        </p:nvSpPr>
        <p:spPr>
          <a:xfrm>
            <a:off x="563751" y="2909571"/>
            <a:ext cx="6102456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small distance along the curve is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E0489D-4AE2-B7E8-51D9-7CE0FA5DE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491" y="2870447"/>
            <a:ext cx="3318256" cy="4673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52BA0C-5DB9-0FE8-376C-B96E11127D6F}"/>
              </a:ext>
            </a:extLst>
          </p:cNvPr>
          <p:cNvSpPr txBox="1"/>
          <p:nvPr/>
        </p:nvSpPr>
        <p:spPr>
          <a:xfrm>
            <a:off x="625745" y="3462010"/>
            <a:ext cx="2659896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Therefore,  Arc length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B13A62-6FEB-D197-72A9-74A037ADD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331" y="3993919"/>
            <a:ext cx="3846320" cy="8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23DC-8371-8558-466C-35E0C5EB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8700F8F-F005-E2E9-EDC9-A2297BE2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69C706-7400-867B-8DF9-7FC3D5E65ED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996EB-FB6C-FEB0-1902-54E6A1A8474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042C5-68DC-AAEF-DD50-6F291832816D}"/>
              </a:ext>
            </a:extLst>
          </p:cNvPr>
          <p:cNvSpPr txBox="1"/>
          <p:nvPr/>
        </p:nvSpPr>
        <p:spPr>
          <a:xfrm>
            <a:off x="563751" y="309282"/>
            <a:ext cx="639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Length of a Vector-Valued Space Curve 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A3EAD-5FE6-C339-A04D-861A8BDEEF35}"/>
                  </a:ext>
                </a:extLst>
              </p:cNvPr>
              <p:cNvSpPr txBox="1"/>
              <p:nvPr/>
            </p:nvSpPr>
            <p:spPr>
              <a:xfrm>
                <a:off x="708777" y="1124040"/>
                <a:ext cx="66457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1 Circular Motion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4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 4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0A3EAD-5FE6-C339-A04D-861A8BDEE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77" y="1124040"/>
                <a:ext cx="6645752" cy="369332"/>
              </a:xfrm>
              <a:prstGeom prst="rect">
                <a:avLst/>
              </a:prstGeom>
              <a:blipFill>
                <a:blip r:embed="rId3"/>
                <a:stretch>
                  <a:fillRect l="-73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2D7B4D-CE5A-31D3-2EE3-50EC1C29C53C}"/>
                  </a:ext>
                </a:extLst>
              </p:cNvPr>
              <p:cNvSpPr txBox="1"/>
              <p:nvPr/>
            </p:nvSpPr>
            <p:spPr>
              <a:xfrm>
                <a:off x="1449782" y="1769520"/>
                <a:ext cx="25288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2D7B4D-CE5A-31D3-2EE3-50EC1C29C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82" y="1769520"/>
                <a:ext cx="2528897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C1BDE708-093D-5635-3BB3-D7F47C870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020" y="2321087"/>
            <a:ext cx="3846320" cy="896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15F220-1A56-8287-74AA-49DA80C46BFE}"/>
                  </a:ext>
                </a:extLst>
              </p:cNvPr>
              <p:cNvSpPr txBox="1"/>
              <p:nvPr/>
            </p:nvSpPr>
            <p:spPr>
              <a:xfrm>
                <a:off x="1288024" y="3491885"/>
                <a:ext cx="2578745" cy="784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limLoc m:val="subSup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𝑑𝑡</m:t>
                            </m:r>
                          </m:e>
                        </m:d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limLoc m:val="subSup"/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sup>
                          <m:e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4 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𝑑𝑡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=8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15F220-1A56-8287-74AA-49DA80C46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24" y="3491885"/>
                <a:ext cx="2578745" cy="784702"/>
              </a:xfrm>
              <a:prstGeom prst="rect">
                <a:avLst/>
              </a:prstGeom>
              <a:blipFill>
                <a:blip r:embed="rId6"/>
                <a:stretch>
                  <a:fillRect l="-13948" t="-22481" r="-18203" b="-100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8BB375AA-28CD-096C-9D85-71263C4CCD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5545" y="1955405"/>
            <a:ext cx="3961593" cy="263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CF39-1D44-5CCF-B4EF-B209753B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C9BD9298-A4F9-87FD-3D6C-F600CC9FD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62A770-4BDF-9BF5-8A86-09756852F35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85F6A5-33E1-5DB2-A7F3-DBFFD4D25587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B4CE7-5194-7358-AD21-B3779944C045}"/>
              </a:ext>
            </a:extLst>
          </p:cNvPr>
          <p:cNvSpPr txBox="1"/>
          <p:nvPr/>
        </p:nvSpPr>
        <p:spPr>
          <a:xfrm>
            <a:off x="563751" y="309282"/>
            <a:ext cx="639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Length of a Vector-Valued Space Curve 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16872A-9FD7-FBD7-A302-686F077DB453}"/>
                  </a:ext>
                </a:extLst>
              </p:cNvPr>
              <p:cNvSpPr txBox="1"/>
              <p:nvPr/>
            </p:nvSpPr>
            <p:spPr>
              <a:xfrm>
                <a:off x="708777" y="1124040"/>
                <a:ext cx="6105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Helix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𝐫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3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 3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16872A-9FD7-FBD7-A302-686F077DB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77" y="1124040"/>
                <a:ext cx="6105832" cy="369332"/>
              </a:xfrm>
              <a:prstGeom prst="rect">
                <a:avLst/>
              </a:prstGeom>
              <a:blipFill>
                <a:blip r:embed="rId3"/>
                <a:stretch>
                  <a:fillRect l="-79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BB05465-3723-4C7D-C254-64441ACE4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390" y="709391"/>
            <a:ext cx="2578745" cy="34594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DAE64C-1EB8-0B67-8119-B6615703939E}"/>
                  </a:ext>
                </a:extLst>
              </p:cNvPr>
              <p:cNvSpPr txBox="1"/>
              <p:nvPr/>
            </p:nvSpPr>
            <p:spPr>
              <a:xfrm>
                <a:off x="1449782" y="1769520"/>
                <a:ext cx="28254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 3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DAE64C-1EB8-0B67-8119-B6615703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82" y="1769520"/>
                <a:ext cx="2825452" cy="276999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7A95A5B-FC0B-EC86-EF8B-C808BE363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020" y="2321087"/>
            <a:ext cx="3846320" cy="896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71741B-4680-B97C-AB9D-87B67FDB8278}"/>
                  </a:ext>
                </a:extLst>
              </p:cNvPr>
              <p:cNvSpPr txBox="1"/>
              <p:nvPr/>
            </p:nvSpPr>
            <p:spPr>
              <a:xfrm>
                <a:off x="1288024" y="3491885"/>
                <a:ext cx="2578745" cy="784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limLoc m:val="subSup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𝑑𝑡</m:t>
                            </m:r>
                          </m:e>
                        </m:d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limLoc m:val="subSup"/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sup>
                          <m:e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5 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𝑑𝑡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=10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71741B-4680-B97C-AB9D-87B67FDB8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24" y="3491885"/>
                <a:ext cx="2578745" cy="784702"/>
              </a:xfrm>
              <a:prstGeom prst="rect">
                <a:avLst/>
              </a:prstGeom>
              <a:blipFill>
                <a:blip r:embed="rId7"/>
                <a:stretch>
                  <a:fillRect l="-13948" t="-22481" r="-22931" b="-100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DF0AC1-CD07-F34E-7DF2-D4CCB38484C2}"/>
                  </a:ext>
                </a:extLst>
              </p:cNvPr>
              <p:cNvSpPr txBox="1"/>
              <p:nvPr/>
            </p:nvSpPr>
            <p:spPr>
              <a:xfrm>
                <a:off x="6199240" y="4583524"/>
                <a:ext cx="4793225" cy="476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5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US" sz="15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15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15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en-US" sz="15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15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5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5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5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endParaRPr lang="en-US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DF0AC1-CD07-F34E-7DF2-D4CCB3848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240" y="4583524"/>
                <a:ext cx="4793225" cy="476284"/>
              </a:xfrm>
              <a:prstGeom prst="rect">
                <a:avLst/>
              </a:prstGeom>
              <a:blipFill>
                <a:blip r:embed="rId8"/>
                <a:stretch>
                  <a:fillRect l="-6616" t="-67949" b="-129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14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483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Amasis MT Pro</vt:lpstr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Jashodhan Saha</dc:creator>
  <cp:lastModifiedBy>Jashodhan Saha</cp:lastModifiedBy>
  <cp:revision>7</cp:revision>
  <dcterms:created xsi:type="dcterms:W3CDTF">2026-08-09T16:48:07Z</dcterms:created>
  <dcterms:modified xsi:type="dcterms:W3CDTF">2026-08-11T17:13:14Z</dcterms:modified>
</cp:coreProperties>
</file>