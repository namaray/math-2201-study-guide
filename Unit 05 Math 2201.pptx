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43" r:id="rId2"/>
    <p:sldId id="344" r:id="rId3"/>
    <p:sldId id="345" r:id="rId4"/>
    <p:sldId id="342" r:id="rId5"/>
    <p:sldId id="350" r:id="rId6"/>
    <p:sldId id="346" r:id="rId7"/>
    <p:sldId id="347" r:id="rId8"/>
    <p:sldId id="348" r:id="rId9"/>
    <p:sldId id="349" r:id="rId10"/>
    <p:sldId id="351" r:id="rId11"/>
    <p:sldId id="353" r:id="rId12"/>
    <p:sldId id="352" r:id="rId13"/>
    <p:sldId id="354" r:id="rId14"/>
    <p:sldId id="355" r:id="rId15"/>
    <p:sldId id="356" r:id="rId16"/>
    <p:sldId id="357" r:id="rId17"/>
    <p:sldId id="358" r:id="rId18"/>
    <p:sldId id="359" r:id="rId19"/>
    <p:sldId id="36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E61CD-25E0-A5A2-0FFF-6EFE9803A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F979E2-40D8-951B-5C92-9A796152E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C4098-2970-8C12-0A9B-651B9995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888B-FCF9-4A25-B06B-A99C648BC0F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B2DAC-CD6D-8E86-8E55-540C3E3E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C2FAD-EFD8-F2B7-C806-D283553C8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D51F-5C78-4379-966B-B984363D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71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A122-4637-5B63-EE0B-A28BDC51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50214-767F-4480-13D4-85FB0733C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EDC69-8A5B-D5E3-680B-DB3C3B091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888B-FCF9-4A25-B06B-A99C648BC0F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AAC07-44E2-BCF4-FF61-B50618E54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682B-A6C1-B591-C5B6-CFB53350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D51F-5C78-4379-966B-B984363D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4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0808-6243-D2C1-F645-31A7DF17E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6DAF2-7A70-531F-F624-5B36DFBB7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DBBBA5-D786-0C5C-18AC-56DE405D1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888B-FCF9-4A25-B06B-A99C648BC0F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C7A7D-7A94-34E5-A71E-97B38425A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3EBE1-70BA-C59A-CE7D-F74E540B9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D51F-5C78-4379-966B-B984363D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284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3E228-EA3A-27F1-EFDF-58048AD9B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F91F7-FEAB-2EF6-5BBA-7BD2ADB9B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E515A-556C-368D-61AF-AA557AD85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B6A9E-F52A-A79C-2B2F-9844CAD6F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888B-FCF9-4A25-B06B-A99C648BC0F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D1D3EA-42A5-179D-A8ED-517414112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014E58-0B5E-5923-3CE5-C0CC46FAE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D51F-5C78-4379-966B-B984363D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807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F814F-748C-7931-2A66-AB267C21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448D6-AB97-20A2-4F88-ABBC8E97A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12439-CD8C-16EF-5598-DC51BFC18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72BDD-8FB2-1728-1935-B42CE5876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A03D3-C7C3-9E1A-88E8-475F257A8B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08CC8-086C-CE47-5AC1-A73C918D9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888B-FCF9-4A25-B06B-A99C648BC0F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403541-9295-5E3A-FD7E-619F42B6E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C189C9-10BF-2A6C-D94C-FE7C7F0A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D51F-5C78-4379-966B-B984363D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7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10A7A-9CF6-BFE0-D3A4-F5A998701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B21DA-3DB4-BE0E-FCB8-39FB133F9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888B-FCF9-4A25-B06B-A99C648BC0F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1FB1BC-D16C-6B78-DAF1-0A4A4225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D0A6F-DFCB-7FC1-248D-0BB6CE9D7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D51F-5C78-4379-966B-B984363D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89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4D49C6-5B8C-4DF7-C7AD-19C789C45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888B-FCF9-4A25-B06B-A99C648BC0F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F8D988-3289-DC53-15A1-AF259BC3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DE24E-BC89-405F-D9C7-E4EFEDCA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D51F-5C78-4379-966B-B984363D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26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1E27E-50AA-D301-D45A-5C1DC8E22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AFD97-E526-0046-47A7-5079E0FA1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75023-C484-0F78-A6A7-B5B1059A9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D7077-FB34-1EC0-3BDE-623FA5C94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888B-FCF9-4A25-B06B-A99C648BC0F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7788F-6455-878A-E878-0ECF2CB87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B670E-194E-3E29-2EFB-2AA109E71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D51F-5C78-4379-966B-B984363D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9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02133-2FC7-EFA0-DB3D-907E6113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330B1A-A2F3-72A8-9002-2275A7678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E01F5-B3F3-9304-7BF7-E14F37AAA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28F9F-C2CE-C7A0-0145-357CE7131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888B-FCF9-4A25-B06B-A99C648BC0F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5308B-B02C-B32C-072E-92501189A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D6978-A645-BCE0-5B43-4935ABFBE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D51F-5C78-4379-966B-B984363D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606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4AFE5-22D5-A030-F262-228F1E158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0B771-4421-CDDB-75F7-6D223DB8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541C74-4E2E-7629-0CE8-02FFDA20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888B-FCF9-4A25-B06B-A99C648BC0F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4C47B-1E1B-8CE3-4BCC-4DCD5574D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88B75-DFD8-C819-85E7-D1F3FE02E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D51F-5C78-4379-966B-B984363D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0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5D89F-6F40-1DB0-0FE3-7CB44CBAD1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33C8A-2D02-82D8-750A-44DA748851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E6DD2-59D3-BB6E-4B81-E18E8BD3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D888B-FCF9-4A25-B06B-A99C648BC0F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5CDD6-B09C-80D7-ED90-DD97F3C6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AE408-5CF5-56BF-4A7B-DBF287095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93D51F-5C78-4379-966B-B984363D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9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980265-021D-2287-E2B4-9901BD13F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AD5E0-C249-F73B-7F4F-A501779E65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2BF5B-10AB-E81E-C9FB-B22FD66C99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4D888B-FCF9-4A25-B06B-A99C648BC0F6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A7BBF-1E51-3406-C219-506953149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5D1FD-254E-6D67-96EA-4F8B2A43FE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3D51F-5C78-4379-966B-B984363D1A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60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18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8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jpeg"/><Relationship Id="rId9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26.pn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70.png"/><Relationship Id="rId5" Type="http://schemas.openxmlformats.org/officeDocument/2006/relationships/image" Target="../media/image64.png"/><Relationship Id="rId10" Type="http://schemas.openxmlformats.org/officeDocument/2006/relationships/image" Target="../media/image69.png"/><Relationship Id="rId4" Type="http://schemas.openxmlformats.org/officeDocument/2006/relationships/image" Target="../media/image63.png"/><Relationship Id="rId9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7" Type="http://schemas.openxmlformats.org/officeDocument/2006/relationships/image" Target="../media/image7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4" Type="http://schemas.openxmlformats.org/officeDocument/2006/relationships/image" Target="../media/image74.png"/><Relationship Id="rId9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DD818-8843-B9CB-6E99-2A629A9D3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7D755968-7E45-3A9E-9C8A-B9BD31B28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52DB8F-E50B-299D-036E-3130A3BC4AA3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99D56F-2591-78AE-F7C8-E4E3CFAC9514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67545-3693-89CA-DF93-C78241897FDF}"/>
              </a:ext>
            </a:extLst>
          </p:cNvPr>
          <p:cNvSpPr txBox="1"/>
          <p:nvPr/>
        </p:nvSpPr>
        <p:spPr>
          <a:xfrm>
            <a:off x="264300" y="114258"/>
            <a:ext cx="10708500" cy="1056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800" b="1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Unit 5</a:t>
            </a:r>
          </a:p>
          <a:p>
            <a:pPr>
              <a:spcAft>
                <a:spcPts val="800"/>
              </a:spcAft>
            </a:pPr>
            <a:r>
              <a:rPr lang="en-US" sz="2800" b="1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Rectangular, Polar, Cylindrical, and Spherical coordinate systems</a:t>
            </a:r>
            <a:endParaRPr lang="en-US" sz="2400" b="1" kern="100" dirty="0">
              <a:solidFill>
                <a:schemeClr val="accent2"/>
              </a:solidFill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303CD1-1903-5986-4A42-2921717BEFB4}"/>
              </a:ext>
            </a:extLst>
          </p:cNvPr>
          <p:cNvSpPr txBox="1"/>
          <p:nvPr/>
        </p:nvSpPr>
        <p:spPr>
          <a:xfrm>
            <a:off x="794893" y="1711739"/>
            <a:ext cx="90899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kern="100" dirty="0">
                <a:effectLst/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 single-variable calculus, we use a definite integral such as</a:t>
            </a:r>
            <a:endParaRPr lang="en-US" sz="1400" kern="100" dirty="0"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42C081-4F60-3D26-A746-33B140058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7960" y="1530845"/>
            <a:ext cx="1474840" cy="8234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580AAE-96ED-399A-6DA6-32C5B29FCA3F}"/>
              </a:ext>
            </a:extLst>
          </p:cNvPr>
          <p:cNvSpPr txBox="1"/>
          <p:nvPr/>
        </p:nvSpPr>
        <p:spPr>
          <a:xfrm>
            <a:off x="712839" y="2688390"/>
            <a:ext cx="104762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en-US" sz="2400" kern="100" dirty="0">
                <a:effectLst/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 double integration, we accumulate over a </a:t>
            </a:r>
            <a:r>
              <a:rPr lang="en-US" sz="2400" b="1" kern="100" dirty="0">
                <a:effectLst/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two-dimensional region</a:t>
            </a:r>
            <a:r>
              <a:rPr lang="en-US" sz="2400" kern="100" dirty="0">
                <a:effectLst/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400" kern="100" dirty="0"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FD1AA0-0F24-490F-F66D-EA4BDD7A8B26}"/>
                  </a:ext>
                </a:extLst>
              </p:cNvPr>
              <p:cNvSpPr txBox="1"/>
              <p:nvPr/>
            </p:nvSpPr>
            <p:spPr>
              <a:xfrm>
                <a:off x="3011129" y="3049216"/>
                <a:ext cx="6169742" cy="7216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∬"/>
                          <m:limLoc m:val="subSup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nary>
                      <m:d>
                        <m:dPr>
                          <m:sepChr m:val=",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nor/>
                        </m:rPr>
                        <a:rPr lang="en-US" sz="2000" b="0" i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2000" b="0" i="1">
                          <a:latin typeface="Cambria Math" panose="02040503050406030204" pitchFamily="18" charset="0"/>
                        </a:rPr>
                        <m:t>𝑑𝐴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0FD1AA0-0F24-490F-F66D-EA4BDD7A8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129" y="3049216"/>
                <a:ext cx="6169742" cy="7216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E8DAB6-22C7-52E2-3C3B-AC81640128EB}"/>
                  </a:ext>
                </a:extLst>
              </p:cNvPr>
              <p:cNvSpPr txBox="1"/>
              <p:nvPr/>
            </p:nvSpPr>
            <p:spPr>
              <a:xfrm>
                <a:off x="712839" y="4013815"/>
                <a:ext cx="10141974" cy="8897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indent="-342900">
                  <a:lnSpc>
                    <a:spcPct val="100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q"/>
                </a:pPr>
                <a:r>
                  <a:rPr lang="en-US" sz="2400" kern="100" dirty="0">
                    <a:effectLst/>
                    <a:latin typeface="Amasis MT Pro Medium" panose="020406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Similarly, a </a:t>
                </a:r>
                <a:r>
                  <a:rPr lang="en-US" sz="2400" b="1" kern="100" dirty="0">
                    <a:effectLst/>
                    <a:latin typeface="Amasis MT Pro Medium" panose="020406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triple integral  </a:t>
                </a:r>
                <a14:m>
                  <m:oMath xmlns:m="http://schemas.openxmlformats.org/officeDocument/2006/math">
                    <m:nary>
                      <m:naryPr>
                        <m:chr m:val="∭"/>
                        <m:limLoc m:val="subSup"/>
                        <m:supHide m:val="on"/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sub>
                      <m:sup/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sepChr m:val=","/>
                        <m:ctrlP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m:rPr>
                        <m:nor/>
                      </m:rPr>
                      <a:rPr lang="en-US" sz="2400" i="0" kern="100">
                        <a:effectLst/>
                        <a:latin typeface="Amasis MT Pro Medium" panose="020406040500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 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𝑑𝑉</m:t>
                    </m:r>
                  </m:oMath>
                </a14:m>
                <a:r>
                  <a:rPr lang="en-US" sz="2400" kern="100" dirty="0">
                    <a:effectLst/>
                    <a:latin typeface="Amasis MT Pro Medium" panose="020406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accumulates a quantity throughout a </a:t>
                </a:r>
                <a:r>
                  <a:rPr lang="en-US" sz="2400" b="1" kern="100" dirty="0">
                    <a:effectLst/>
                    <a:latin typeface="Amasis MT Pro Medium" panose="020406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three-dimensional solid </a:t>
                </a:r>
                <a14:m>
                  <m:oMath xmlns:m="http://schemas.openxmlformats.org/officeDocument/2006/math"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400" kern="100" dirty="0">
                    <a:effectLst/>
                    <a:latin typeface="Amasis MT Pro Medium" panose="020406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400" kern="100" dirty="0">
                  <a:effectLst/>
                  <a:latin typeface="Amasis MT Pro Medium" panose="020406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EE8DAB6-22C7-52E2-3C3B-AC8164012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839" y="4013815"/>
                <a:ext cx="10141974" cy="889795"/>
              </a:xfrm>
              <a:prstGeom prst="rect">
                <a:avLst/>
              </a:prstGeom>
              <a:blipFill>
                <a:blip r:embed="rId5"/>
                <a:stretch>
                  <a:fillRect l="-841" t="-82877" b="-76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366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BC95-BA96-59A8-89C4-6E72750C5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529BAE5E-B7A7-CA2B-667C-E60434A5F2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CC9D3A0-4824-7B03-7007-A432147D1FF8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C2320-0455-7DE7-6824-ED26D740D962}"/>
              </a:ext>
            </a:extLst>
          </p:cNvPr>
          <p:cNvSpPr txBox="1"/>
          <p:nvPr/>
        </p:nvSpPr>
        <p:spPr>
          <a:xfrm>
            <a:off x="264300" y="114258"/>
            <a:ext cx="10708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b="1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Rectangular, Polar, Cylindrical, and Spherical coordinate systems</a:t>
            </a:r>
            <a:endParaRPr lang="en-US" sz="2400" b="1" kern="100" dirty="0">
              <a:solidFill>
                <a:schemeClr val="accent2"/>
              </a:solidFill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DBD9EE-3F42-C9A7-9487-FFB71CC974F0}"/>
                  </a:ext>
                </a:extLst>
              </p:cNvPr>
              <p:cNvSpPr txBox="1"/>
              <p:nvPr/>
            </p:nvSpPr>
            <p:spPr>
              <a:xfrm>
                <a:off x="506361" y="1110151"/>
                <a:ext cx="10112478" cy="26161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000" b="1" kern="100" dirty="0">
                    <a:solidFill>
                      <a:schemeClr val="accent2"/>
                    </a:solidFill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Polar Coordinates  </a:t>
                </a:r>
                <a14:m>
                  <m:oMath xmlns:m="http://schemas.openxmlformats.org/officeDocument/2006/math">
                    <m:r>
                      <a:rPr lang="en-US" sz="20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US" sz="20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0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sz="20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000" kern="100" dirty="0">
                  <a:solidFill>
                    <a:schemeClr val="accent2"/>
                  </a:solidFill>
                  <a:effectLst/>
                  <a:latin typeface="Amasis MT Pro Medium" panose="020406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algn="just">
                  <a:spcAft>
                    <a:spcPts val="800"/>
                  </a:spcAft>
                </a:pPr>
                <a:r>
                  <a:rPr lang="en-US" sz="2000" kern="100" dirty="0"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Polar coordinates are a two-dimensional system that locates any point on a plane using </a:t>
                </a:r>
                <a:r>
                  <a:rPr lang="en-US" sz="2000" dirty="0">
                    <a:latin typeface="Amasis MT Pro Medium" panose="02040604050005020304" pitchFamily="18" charset="0"/>
                  </a:rPr>
                  <a:t>a distance from a central reference point and an angle from a reference direction.</a:t>
                </a:r>
              </a:p>
              <a:p>
                <a:pPr algn="just">
                  <a:spcAft>
                    <a:spcPts val="800"/>
                  </a:spcAft>
                </a:pPr>
                <a:r>
                  <a:rPr lang="en-US" sz="2000" kern="100" dirty="0"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Here, the distance </a:t>
                </a:r>
                <a:r>
                  <a:rPr lang="en-US" sz="2400" b="1" i="1" kern="100" dirty="0">
                    <a:solidFill>
                      <a:schemeClr val="accent2"/>
                    </a:solidFill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sz="2000" kern="100" dirty="0"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 the radial distance from the origin </a:t>
                </a:r>
                <a:r>
                  <a:rPr lang="en-US" sz="2000" b="1" kern="100" dirty="0"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( the pole),</a:t>
                </a:r>
                <a:r>
                  <a:rPr lang="en-US" sz="2000" kern="100" dirty="0"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and </a:t>
                </a:r>
                <a:r>
                  <a:rPr lang="en-US" sz="2000" b="1" i="1" kern="100" dirty="0">
                    <a:solidFill>
                      <a:schemeClr val="accent2"/>
                    </a:solidFill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θ</a:t>
                </a:r>
                <a:r>
                  <a:rPr lang="en-US" sz="2000" kern="100" dirty="0"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is the angle of rotation from a reference ray (usually the positive x-axis). </a:t>
                </a:r>
              </a:p>
              <a:p>
                <a:pPr marL="342900" marR="0" lvl="0" indent="-342900" algn="just">
                  <a:lnSpc>
                    <a:spcPct val="100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US" sz="2000" b="1" kern="100" dirty="0"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Best used for:</a:t>
                </a:r>
                <a:r>
                  <a:rPr lang="en-US" sz="2000" kern="100" dirty="0"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kern="100" dirty="0">
                    <a:solidFill>
                      <a:schemeClr val="accent2"/>
                    </a:solidFill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Circular or rotational patterns</a:t>
                </a:r>
                <a:endParaRPr lang="en-US" sz="1200" kern="100" dirty="0">
                  <a:solidFill>
                    <a:schemeClr val="accent2"/>
                  </a:solidFill>
                  <a:effectLst/>
                  <a:latin typeface="Amasis MT Pro Medium" panose="020406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FDBD9EE-3F42-C9A7-9487-FFB71CC97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61" y="1110151"/>
                <a:ext cx="10112478" cy="2616101"/>
              </a:xfrm>
              <a:prstGeom prst="rect">
                <a:avLst/>
              </a:prstGeom>
              <a:blipFill>
                <a:blip r:embed="rId3"/>
                <a:stretch>
                  <a:fillRect l="-603" t="-1166" r="-663" b="-3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Polar coordinates &amp; radians – TikZ.net">
            <a:extLst>
              <a:ext uri="{FF2B5EF4-FFF2-40B4-BE49-F238E27FC236}">
                <a16:creationId xmlns:a16="http://schemas.microsoft.com/office/drawing/2014/main" id="{24089B80-1F12-E427-6F94-92D047E34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4737" y="3429000"/>
            <a:ext cx="3300637" cy="2616101"/>
          </a:xfrm>
          <a:prstGeom prst="rect">
            <a:avLst/>
          </a:prstGeom>
        </p:spPr>
      </p:pic>
      <p:pic>
        <p:nvPicPr>
          <p:cNvPr id="6" name="Picture 5" descr="Polar To Rectangular - Cuemath">
            <a:extLst>
              <a:ext uri="{FF2B5EF4-FFF2-40B4-BE49-F238E27FC236}">
                <a16:creationId xmlns:a16="http://schemas.microsoft.com/office/drawing/2014/main" id="{1F70CC5E-A626-5D65-D062-16460CAC8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6809" y="4071791"/>
            <a:ext cx="2706562" cy="213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617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057E6-6C34-2F6D-1EFD-D9A2DC708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0944D17E-4518-68C8-F17C-D44B3EA33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EADD4A2-9073-E09B-FE8B-38850E27A00E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670743-C825-482C-C80B-BF6CCC5BD426}"/>
                  </a:ext>
                </a:extLst>
              </p:cNvPr>
              <p:cNvSpPr txBox="1"/>
              <p:nvPr/>
            </p:nvSpPr>
            <p:spPr>
              <a:xfrm>
                <a:off x="264300" y="114258"/>
                <a:ext cx="10708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800" b="1" kern="100" dirty="0">
                    <a:solidFill>
                      <a:schemeClr val="accent2"/>
                    </a:solidFill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Polar Coordinates  </a:t>
                </a:r>
                <a14:m>
                  <m:oMath xmlns:m="http://schemas.openxmlformats.org/officeDocument/2006/math"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800" kern="100" dirty="0">
                  <a:solidFill>
                    <a:schemeClr val="accent2"/>
                  </a:solidFill>
                  <a:effectLst/>
                  <a:latin typeface="Amasis MT Pro Medium" panose="020406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670743-C825-482C-C80B-BF6CCC5BD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00" y="114258"/>
                <a:ext cx="10708500" cy="523220"/>
              </a:xfrm>
              <a:prstGeom prst="rect">
                <a:avLst/>
              </a:prstGeom>
              <a:blipFill>
                <a:blip r:embed="rId3"/>
                <a:stretch>
                  <a:fillRect l="-113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18. Polar Coordinates — CMPT 166 Fall 2013 1.0 documentation">
            <a:extLst>
              <a:ext uri="{FF2B5EF4-FFF2-40B4-BE49-F238E27FC236}">
                <a16:creationId xmlns:a16="http://schemas.microsoft.com/office/drawing/2014/main" id="{534EDDC0-A6AB-29D6-E20C-2037AA5A4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7497" y="989022"/>
            <a:ext cx="5260257" cy="478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50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4B74D-0E32-BC51-612A-B27840691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383FF8F3-9EE3-BDC2-474B-C730657295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898C1D5-F0E6-B901-DC5F-0D8D16028D38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EAB40E-B95D-63CE-1E6A-87D22AFE4D87}"/>
              </a:ext>
            </a:extLst>
          </p:cNvPr>
          <p:cNvSpPr txBox="1"/>
          <p:nvPr/>
        </p:nvSpPr>
        <p:spPr>
          <a:xfrm>
            <a:off x="535857" y="1588233"/>
            <a:ext cx="1054509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000" dirty="0">
                <a:latin typeface="Amasis MT Pro Medium" panose="02040604050005020304" pitchFamily="18" charset="0"/>
              </a:rPr>
              <a:t>A coordinate system is simply a </a:t>
            </a:r>
            <a:r>
              <a:rPr lang="en-US" sz="2000" b="1" dirty="0">
                <a:latin typeface="Amasis MT Pro Medium" panose="02040604050005020304" pitchFamily="18" charset="0"/>
              </a:rPr>
              <a:t>language for locating a point</a:t>
            </a:r>
            <a:r>
              <a:rPr lang="en-US" sz="2000" dirty="0">
                <a:latin typeface="Amasis MT Pro Medium" panose="02040604050005020304" pitchFamily="18" charset="0"/>
              </a:rPr>
              <a:t>. </a:t>
            </a:r>
            <a:r>
              <a:rPr lang="en-US" sz="2000" kern="100" dirty="0">
                <a:effectLst/>
                <a:latin typeface="Amasis MT Pro Medium" panose="020406040500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choice of coordinate system is important because it can make the limits of integration and the integrand much simpler.</a:t>
            </a:r>
            <a:endParaRPr lang="en-US" sz="1200" kern="100" dirty="0"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F8537B-C09F-E24E-5423-19F44DE38400}"/>
              </a:ext>
            </a:extLst>
          </p:cNvPr>
          <p:cNvSpPr txBox="1"/>
          <p:nvPr/>
        </p:nvSpPr>
        <p:spPr>
          <a:xfrm>
            <a:off x="264300" y="114258"/>
            <a:ext cx="10708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b="1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Rectangular, Polar, Cylindrical, and Spherical coordinate systems</a:t>
            </a:r>
            <a:endParaRPr lang="en-US" sz="2400" b="1" kern="100" dirty="0">
              <a:solidFill>
                <a:schemeClr val="accent2"/>
              </a:solidFill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777806-2866-8FE6-F9E8-DE5D0CD89EAC}"/>
              </a:ext>
            </a:extLst>
          </p:cNvPr>
          <p:cNvSpPr txBox="1"/>
          <p:nvPr/>
        </p:nvSpPr>
        <p:spPr>
          <a:xfrm>
            <a:off x="398207" y="863657"/>
            <a:ext cx="6105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70C0"/>
                </a:solidFill>
                <a:latin typeface="Amasis MT Pro Medium" panose="02040604050005020304" pitchFamily="18" charset="0"/>
              </a:rPr>
              <a:t>Why Do We Need Different Coordinate Systems?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EBD098C-222D-D5A4-B4A2-5692A3FAF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00" y="3651009"/>
            <a:ext cx="11475416" cy="78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17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8B0C6-0FDC-B941-4A3B-4FCAA9DFB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BCC1835B-9AB5-A3FE-7558-FBAEFBF05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984A85-556E-5AC1-8D96-8AB2C5E466BA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B4801B-4474-97A8-DC31-0F67A4B64DB0}"/>
              </a:ext>
            </a:extLst>
          </p:cNvPr>
          <p:cNvSpPr txBox="1"/>
          <p:nvPr/>
        </p:nvSpPr>
        <p:spPr>
          <a:xfrm>
            <a:off x="264300" y="114258"/>
            <a:ext cx="10708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US" sz="2800" b="1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Rectangular, Polar, Cylindrical, and Spherical coordinate systems</a:t>
            </a:r>
            <a:endParaRPr lang="en-US" sz="2400" b="1" kern="100" dirty="0">
              <a:solidFill>
                <a:schemeClr val="accent2"/>
              </a:solidFill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Use integration to find the area of a circle with radius a. | Homework.Study.com">
            <a:extLst>
              <a:ext uri="{FF2B5EF4-FFF2-40B4-BE49-F238E27FC236}">
                <a16:creationId xmlns:a16="http://schemas.microsoft.com/office/drawing/2014/main" id="{A4FCCF87-0D8B-9240-F4F1-CA1A8F880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893" y="2141085"/>
            <a:ext cx="3112889" cy="30986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E236FD3-F8C7-2AD3-5083-5ED8903CC7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685" y="2104214"/>
            <a:ext cx="1744366" cy="8395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DDFF457-B491-CCA9-55B1-737BA29CFE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200" y="2943748"/>
            <a:ext cx="2616809" cy="96918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FF04663-D57E-9190-4D02-D5B4BEF88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48" y="3937929"/>
            <a:ext cx="1292572" cy="33391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636ED71-F933-793D-86D1-901FA24827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3483" y="1861643"/>
            <a:ext cx="1955276" cy="89463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8AF3377-87E2-1E83-1902-1ABFD5F7C9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0771" y="2943747"/>
            <a:ext cx="2701693" cy="8137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191E2B-F1BD-301C-AA05-89D1D124EFD3}"/>
                  </a:ext>
                </a:extLst>
              </p:cNvPr>
              <p:cNvSpPr txBox="1"/>
              <p:nvPr/>
            </p:nvSpPr>
            <p:spPr>
              <a:xfrm>
                <a:off x="516192" y="857690"/>
                <a:ext cx="6105832" cy="11567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</a:rPr>
                  <a:t>The equation of the circle is     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borderBoxPr>
                      <m:e>
                        <m:sSup>
                          <m:sSup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i="1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borderBox>
                    <m:r>
                      <a:rPr lang="en-US" sz="2000" i="1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000" dirty="0">
                    <a:effectLst/>
                    <a:latin typeface="Amasis MT Pro Medium" panose="02040604050005020304" pitchFamily="18" charset="0"/>
                    <a:ea typeface="Times New Roman" panose="02020603050405020304" pitchFamily="18" charset="0"/>
                  </a:rPr>
                  <a:t> </a:t>
                </a:r>
              </a:p>
              <a:p>
                <a:endParaRPr lang="en-US" sz="2000" dirty="0">
                  <a:effectLst/>
                  <a:latin typeface="Amasis MT Pro Medium" panose="02040604050005020304" pitchFamily="18" charset="0"/>
                  <a:ea typeface="Aptos" panose="020B0004020202020204" pitchFamily="34" charset="0"/>
                </a:endParaRPr>
              </a:p>
              <a:p>
                <a:r>
                  <a:rPr lang="en-US" sz="2000" dirty="0"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</a:rPr>
                  <a:t>In Cartesian coordinates, the area is </a:t>
                </a:r>
                <a:endParaRPr lang="en-US" sz="2000" dirty="0">
                  <a:latin typeface="Amasis MT Pro Medium" panose="020406040500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191E2B-F1BD-301C-AA05-89D1D124E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192" y="857690"/>
                <a:ext cx="6105832" cy="1156727"/>
              </a:xfrm>
              <a:prstGeom prst="rect">
                <a:avLst/>
              </a:prstGeom>
              <a:blipFill>
                <a:blip r:embed="rId9"/>
                <a:stretch>
                  <a:fillRect l="-1099" b="-84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8507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6EE9-EC13-1928-FD00-070D3276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7AD4520D-B165-458A-2127-BC6AFFBC7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3A64325-C6BB-29E8-7F43-9B804043E044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86A792-AD06-EE01-5E3F-0152A646A3A7}"/>
              </a:ext>
            </a:extLst>
          </p:cNvPr>
          <p:cNvSpPr txBox="1"/>
          <p:nvPr/>
        </p:nvSpPr>
        <p:spPr>
          <a:xfrm>
            <a:off x="427324" y="146597"/>
            <a:ext cx="4671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800" b="1" kern="100" dirty="0">
                <a:solidFill>
                  <a:schemeClr val="accent2"/>
                </a:solidFill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Jacobian </a:t>
            </a:r>
            <a:endParaRPr lang="en-US" sz="2800" kern="100" dirty="0">
              <a:solidFill>
                <a:schemeClr val="accent2"/>
              </a:solidFill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67DA2-D5E5-0851-E939-7474CBC05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333" y="5392262"/>
            <a:ext cx="2698318" cy="5377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AD92EF-284F-27D6-11A0-BB6E6A19ADFE}"/>
              </a:ext>
            </a:extLst>
          </p:cNvPr>
          <p:cNvSpPr txBox="1"/>
          <p:nvPr/>
        </p:nvSpPr>
        <p:spPr>
          <a:xfrm>
            <a:off x="408038" y="684996"/>
            <a:ext cx="110268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en-US" sz="2400" b="1" kern="100" dirty="0">
                <a:effectLst/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Jacobian</a:t>
            </a:r>
            <a:r>
              <a:rPr lang="en-US" sz="2000" b="1" kern="100" dirty="0">
                <a:effectLst/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kern="100" dirty="0">
                <a:effectLst/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 a mathematical factor that tells us how area, volume, or higher-dimensional volume changes when we change from one coordinate system to another</a:t>
            </a:r>
            <a:r>
              <a:rPr lang="en-US" sz="2000" b="1" kern="100" dirty="0">
                <a:effectLst/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400" b="1" kern="100" dirty="0"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B8F1A-E4A1-75EE-5B51-1F59CBE2AD68}"/>
              </a:ext>
            </a:extLst>
          </p:cNvPr>
          <p:cNvSpPr txBox="1"/>
          <p:nvPr/>
        </p:nvSpPr>
        <p:spPr>
          <a:xfrm>
            <a:off x="359515" y="2573313"/>
            <a:ext cx="107712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 is especially important when converting a multiple integral from one coordinate system to another.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8E5AAC-4D52-2B87-10A8-2B68B6A6F9DF}"/>
              </a:ext>
            </a:extLst>
          </p:cNvPr>
          <p:cNvSpPr txBox="1"/>
          <p:nvPr/>
        </p:nvSpPr>
        <p:spPr>
          <a:xfrm>
            <a:off x="408038" y="3692854"/>
            <a:ext cx="53634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dirty="0">
                <a:latin typeface="Amasis MT Pro" panose="02040504050005020304" pitchFamily="18" charset="0"/>
              </a:rPr>
              <a:t>Suppose we have a double integral in Cartesian coordinates: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C070F2-3CBB-94E2-6787-AE49A9895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54" y="4711066"/>
            <a:ext cx="2104017" cy="6673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287C0E-5606-59E9-4B49-4D34AC680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433" y="4092964"/>
            <a:ext cx="2104016" cy="92968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F6A69C-41A9-171F-27E0-3E664FD96D2D}"/>
              </a:ext>
            </a:extLst>
          </p:cNvPr>
          <p:cNvSpPr txBox="1"/>
          <p:nvPr/>
        </p:nvSpPr>
        <p:spPr>
          <a:xfrm>
            <a:off x="6331976" y="3692854"/>
            <a:ext cx="6105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masis MT Pro" panose="02040504050005020304" pitchFamily="18" charset="0"/>
              </a:rPr>
              <a:t>In Cartesian coordinates</a:t>
            </a:r>
            <a:r>
              <a:rPr lang="en-US" sz="2000" dirty="0">
                <a:latin typeface="Amasis MT Pro" panose="02040504050005020304" pitchFamily="18" charset="0"/>
              </a:rPr>
              <a:t>: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88CB51-B0F0-D157-F601-415DDFFB5FD2}"/>
              </a:ext>
            </a:extLst>
          </p:cNvPr>
          <p:cNvSpPr txBox="1"/>
          <p:nvPr/>
        </p:nvSpPr>
        <p:spPr>
          <a:xfrm>
            <a:off x="359515" y="1749779"/>
            <a:ext cx="62238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000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Why do we need the Jacobian?</a:t>
            </a:r>
          </a:p>
          <a:p>
            <a:pPr algn="just">
              <a:buNone/>
            </a:pPr>
            <a:endParaRPr lang="en-US" sz="20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010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2E5A2-CB97-0B1C-D8F5-3A713D318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083019FE-4FDE-0EF9-5A27-1B991EE31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CB220F-F953-18FA-BD5D-E0802E1BC72E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4D73AE-D640-C076-2E96-0FCB5ABB7011}"/>
                  </a:ext>
                </a:extLst>
              </p:cNvPr>
              <p:cNvSpPr txBox="1"/>
              <p:nvPr/>
            </p:nvSpPr>
            <p:spPr>
              <a:xfrm>
                <a:off x="264300" y="114258"/>
                <a:ext cx="10708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800" b="1" kern="100" dirty="0">
                    <a:solidFill>
                      <a:schemeClr val="accent2"/>
                    </a:solidFill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Polar Coordinates  </a:t>
                </a:r>
                <a14:m>
                  <m:oMath xmlns:m="http://schemas.openxmlformats.org/officeDocument/2006/math"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800" kern="100" dirty="0">
                  <a:solidFill>
                    <a:schemeClr val="accent2"/>
                  </a:solidFill>
                  <a:effectLst/>
                  <a:latin typeface="Amasis MT Pro Medium" panose="020406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74D73AE-D640-C076-2E96-0FCB5ABB7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00" y="114258"/>
                <a:ext cx="10708500" cy="523220"/>
              </a:xfrm>
              <a:prstGeom prst="rect">
                <a:avLst/>
              </a:prstGeom>
              <a:blipFill>
                <a:blip r:embed="rId3"/>
                <a:stretch>
                  <a:fillRect l="-113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4029AB-ED3B-E552-97BB-774423546DC1}"/>
                  </a:ext>
                </a:extLst>
              </p:cNvPr>
              <p:cNvSpPr txBox="1"/>
              <p:nvPr/>
            </p:nvSpPr>
            <p:spPr>
              <a:xfrm>
                <a:off x="264300" y="1325085"/>
                <a:ext cx="6105832" cy="1405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This is the most important part of the derivation.</a:t>
                </a: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We have 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</m:t>
                    </m:r>
                    <m:func>
                      <m:funcPr>
                        <m:ctrlPr>
                          <a:rPr lang="en-US" sz="18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func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</m:t>
                    </m:r>
                    <m:func>
                      <m:funcPr>
                        <m:ctrlPr>
                          <a:rPr lang="en-US" sz="18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func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br>
                  <a:rPr lang="en-US" sz="1800" i="1" kern="100" dirty="0">
                    <a:effectLst/>
                    <a:latin typeface="+mn-lt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endParaRPr lang="en-US" sz="1800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 Black" panose="02040A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Jacobian is</a:t>
                </a:r>
                <a:endParaRPr lang="en-US" sz="1100" kern="100" dirty="0">
                  <a:effectLst/>
                  <a:latin typeface="Amasis MT Pro Black" panose="02040A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4029AB-ED3B-E552-97BB-774423546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00" y="1325085"/>
                <a:ext cx="6105832" cy="1405513"/>
              </a:xfrm>
              <a:prstGeom prst="rect">
                <a:avLst/>
              </a:prstGeom>
              <a:blipFill>
                <a:blip r:embed="rId4"/>
                <a:stretch>
                  <a:fillRect l="-798" t="-2165" b="-5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295B836-D3E7-97BE-28FA-23B54203D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628" y="2932726"/>
            <a:ext cx="2191447" cy="13639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B6523A-7B68-CA9D-C28D-23FE20FCAC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696" y="4498825"/>
            <a:ext cx="2979656" cy="11645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0034B6-40F9-192F-72DD-B21C5805A9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3406" y="2932726"/>
            <a:ext cx="1920406" cy="6248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C3263DE-FAC6-93CF-21D1-F11DF2DC43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4337" y="3632957"/>
            <a:ext cx="2019475" cy="3429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956B4B6-7E88-E8CC-94A8-2B2A746E1E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54337" y="4077878"/>
            <a:ext cx="548688" cy="2286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6AC4A2F-77B5-4549-0AB0-9BB33B7E50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5673" y="2652637"/>
            <a:ext cx="2191447" cy="136397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27B1445-FBE3-D8E4-752C-059097559C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2237" y="4291765"/>
            <a:ext cx="2698318" cy="5377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CC6C35-B98F-8890-22E5-6F370E05B309}"/>
              </a:ext>
            </a:extLst>
          </p:cNvPr>
          <p:cNvSpPr txBox="1"/>
          <p:nvPr/>
        </p:nvSpPr>
        <p:spPr>
          <a:xfrm>
            <a:off x="5088194" y="5247740"/>
            <a:ext cx="61058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masis MT Pro Medium" panose="02040604050005020304" pitchFamily="18" charset="0"/>
              </a:rPr>
              <a:t>When we change variables</a:t>
            </a:r>
            <a:r>
              <a:rPr lang="en-US" dirty="0">
                <a:solidFill>
                  <a:schemeClr val="accent2"/>
                </a:solidFill>
                <a:latin typeface="Amasis MT Pro Medium" panose="02040604050005020304" pitchFamily="18" charset="0"/>
              </a:rPr>
              <a:t>, the Jacobian </a:t>
            </a:r>
            <a:r>
              <a:rPr lang="en-US" dirty="0">
                <a:latin typeface="Amasis MT Pro Medium" panose="02040604050005020304" pitchFamily="18" charset="0"/>
              </a:rPr>
              <a:t>tells us how much a tiny area or volume element is stretched or compressed by that transformation.</a:t>
            </a:r>
          </a:p>
        </p:txBody>
      </p:sp>
    </p:spTree>
    <p:extLst>
      <p:ext uri="{BB962C8B-B14F-4D97-AF65-F5344CB8AC3E}">
        <p14:creationId xmlns:p14="http://schemas.microsoft.com/office/powerpoint/2010/main" val="2290714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04038-5727-22E7-9084-52DC785D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DA3F07BB-0EDE-5C77-DAB9-F9F39DC55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4B43F03-751E-035D-791A-8690CA33D0AF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6EE942-D5F6-4587-41EF-AC34A7E94043}"/>
                  </a:ext>
                </a:extLst>
              </p:cNvPr>
              <p:cNvSpPr txBox="1"/>
              <p:nvPr/>
            </p:nvSpPr>
            <p:spPr>
              <a:xfrm>
                <a:off x="264300" y="114258"/>
                <a:ext cx="10708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800" b="1" kern="100" dirty="0">
                    <a:solidFill>
                      <a:schemeClr val="accent2"/>
                    </a:solidFill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Polar Coordinates  </a:t>
                </a:r>
                <a14:m>
                  <m:oMath xmlns:m="http://schemas.openxmlformats.org/officeDocument/2006/math"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800" kern="100" dirty="0">
                  <a:solidFill>
                    <a:schemeClr val="accent2"/>
                  </a:solidFill>
                  <a:effectLst/>
                  <a:latin typeface="Amasis MT Pro Medium" panose="020406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6EE942-D5F6-4587-41EF-AC34A7E94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00" y="114258"/>
                <a:ext cx="10708500" cy="523220"/>
              </a:xfrm>
              <a:prstGeom prst="rect">
                <a:avLst/>
              </a:prstGeom>
              <a:blipFill>
                <a:blip r:embed="rId3"/>
                <a:stretch>
                  <a:fillRect l="-113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AA60B76-1058-D26E-8CA7-9CCE6C2CDE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885" y="1289019"/>
            <a:ext cx="2406805" cy="523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244CCB-E9EB-430F-65BB-784C6ECFF51E}"/>
              </a:ext>
            </a:extLst>
          </p:cNvPr>
          <p:cNvSpPr txBox="1"/>
          <p:nvPr/>
        </p:nvSpPr>
        <p:spPr>
          <a:xfrm>
            <a:off x="264300" y="717893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Amasis MT Pro Medium" panose="02040604050005020304" pitchFamily="18" charset="0"/>
              </a:rPr>
              <a:t>Find the Jacobian, w</a:t>
            </a:r>
            <a:r>
              <a:rPr lang="en-US" dirty="0">
                <a:latin typeface="Amasis MT Pro Medium" panose="02040604050005020304" pitchFamily="18" charset="0"/>
              </a:rPr>
              <a:t>hen given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616F35-F5F8-642B-1ABB-3C7077603023}"/>
              </a:ext>
            </a:extLst>
          </p:cNvPr>
          <p:cNvSpPr txBox="1"/>
          <p:nvPr/>
        </p:nvSpPr>
        <p:spPr>
          <a:xfrm>
            <a:off x="403121" y="1849504"/>
            <a:ext cx="1863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masis MT Pro Medium" panose="02040604050005020304" pitchFamily="18" charset="0"/>
              </a:rPr>
              <a:t>The Jacobian is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B41356-FACD-69AF-4D4B-3AFC05CFDA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032" y="2292765"/>
            <a:ext cx="1950889" cy="10440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26D9C96-A485-FC42-7CA7-6D670D91D276}"/>
              </a:ext>
            </a:extLst>
          </p:cNvPr>
          <p:cNvSpPr txBox="1"/>
          <p:nvPr/>
        </p:nvSpPr>
        <p:spPr>
          <a:xfrm>
            <a:off x="264300" y="3368157"/>
            <a:ext cx="38947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masis MT Pro Medium" panose="02040604050005020304" pitchFamily="18" charset="0"/>
              </a:rPr>
              <a:t>Calculate the partial derivatives: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E8061CB-B13D-89F8-1166-6C1AD20DCF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665" y="3768851"/>
            <a:ext cx="1905165" cy="5105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173A5E7-463B-A67D-6569-CF7634470E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722" y="4593414"/>
            <a:ext cx="2187130" cy="58679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7236ED5-BA61-7150-8D89-AEEF40E8CED8}"/>
              </a:ext>
            </a:extLst>
          </p:cNvPr>
          <p:cNvSpPr txBox="1"/>
          <p:nvPr/>
        </p:nvSpPr>
        <p:spPr>
          <a:xfrm>
            <a:off x="4866968" y="1442906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masis MT Pro Medium" panose="02040604050005020304" pitchFamily="18" charset="0"/>
              </a:rPr>
              <a:t>Therefore,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DAFE017-70CF-93A5-F972-B9F784A984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5492" y="1234001"/>
            <a:ext cx="1425063" cy="80016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1CCC85E-FBB5-F534-6D20-D5092148F4E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9884" y="1344949"/>
            <a:ext cx="1882303" cy="5029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682799B-F849-11B0-4B62-DEB47DF70A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19884" y="1982595"/>
            <a:ext cx="1676545" cy="47248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06B12A8-1CE3-6A69-5BCC-4CBF527A07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6420" y="2933928"/>
            <a:ext cx="3314987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88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E4C23-B38B-6075-9E13-EF24FB3A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F6B7F3F8-A765-B415-D122-A20E4E73DA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EC0CAAF-B9DB-F90F-2F0E-7D2A3D4FAAB7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440C18-9377-FC51-52B0-10C9B34718EA}"/>
              </a:ext>
            </a:extLst>
          </p:cNvPr>
          <p:cNvSpPr txBox="1"/>
          <p:nvPr/>
        </p:nvSpPr>
        <p:spPr>
          <a:xfrm>
            <a:off x="264300" y="114258"/>
            <a:ext cx="24985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400" b="1" kern="100" dirty="0">
                <a:solidFill>
                  <a:schemeClr val="accent2"/>
                </a:solidFill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Exercise 01</a:t>
            </a:r>
            <a:endParaRPr lang="en-US" sz="2400" kern="100" dirty="0">
              <a:solidFill>
                <a:schemeClr val="accent2"/>
              </a:solidFill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732D2-1735-C425-F3C3-62C9E1656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93" y="784655"/>
            <a:ext cx="5519849" cy="2139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F82294-5BF6-25F4-4B55-3D26EE6FE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892" y="962945"/>
            <a:ext cx="3177815" cy="8916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EEC07F-73E7-4127-90FD-9B38D84591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833" y="3929531"/>
            <a:ext cx="6196000" cy="12819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70BF4C-F515-42CE-09BA-6217815715EE}"/>
              </a:ext>
            </a:extLst>
          </p:cNvPr>
          <p:cNvSpPr txBox="1"/>
          <p:nvPr/>
        </p:nvSpPr>
        <p:spPr>
          <a:xfrm>
            <a:off x="383833" y="3256738"/>
            <a:ext cx="6105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400" b="1" kern="100" dirty="0">
                <a:solidFill>
                  <a:schemeClr val="accent2"/>
                </a:solidFill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Exercise 02</a:t>
            </a:r>
            <a:endParaRPr lang="en-US" sz="2400" kern="100" dirty="0">
              <a:solidFill>
                <a:schemeClr val="accent2"/>
              </a:solidFill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D0F8D2B-5F73-1588-74C2-D91C17B51E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2010" y="4131449"/>
            <a:ext cx="2057578" cy="4267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0A6A7A-5F5B-CF42-FF63-DEA8B107E1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2010" y="4587279"/>
            <a:ext cx="1646063" cy="4724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1B3A788-DA0E-30D7-5D4E-E319B378C1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2425" y="5138054"/>
            <a:ext cx="2636748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4991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F21F2-8D44-C077-5599-4DBFC746E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EBD9B16E-72FB-6C08-E4AF-26B4B1C4C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36EA245-205F-7159-63B5-B26517725618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F83133-C994-F7D3-DD63-EB1D83F80225}"/>
              </a:ext>
            </a:extLst>
          </p:cNvPr>
          <p:cNvSpPr txBox="1"/>
          <p:nvPr/>
        </p:nvSpPr>
        <p:spPr>
          <a:xfrm>
            <a:off x="264300" y="114258"/>
            <a:ext cx="55662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400" b="1" kern="100" dirty="0">
                <a:solidFill>
                  <a:schemeClr val="accent2"/>
                </a:solidFill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What are cylindrical coordinates?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CE7775-B81A-C5CB-C531-F0DA0C56E6BB}"/>
              </a:ext>
            </a:extLst>
          </p:cNvPr>
          <p:cNvSpPr txBox="1"/>
          <p:nvPr/>
        </p:nvSpPr>
        <p:spPr>
          <a:xfrm>
            <a:off x="264300" y="653864"/>
            <a:ext cx="105942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latin typeface="Amasis MT Pro Medium" panose="02040604050005020304" pitchFamily="18" charset="0"/>
              </a:rPr>
              <a:t>Cylindrical coordinates locate a point in three-dimensional space using a radius, an angle, and a height (</a:t>
            </a:r>
            <a:r>
              <a:rPr lang="en-US" sz="2000" i="1" dirty="0">
                <a:latin typeface="Amasis MT Pro Medium" panose="02040604050005020304" pitchFamily="18" charset="0"/>
              </a:rPr>
              <a:t>r, θ, z</a:t>
            </a:r>
            <a:r>
              <a:rPr lang="en-US" sz="2000" dirty="0">
                <a:latin typeface="Amasis MT Pro Medium" panose="02040604050005020304" pitchFamily="18" charset="0"/>
              </a:rPr>
              <a:t>)</a:t>
            </a:r>
            <a:r>
              <a:rPr lang="en-US" sz="2000" i="1" dirty="0">
                <a:latin typeface="Amasis MT Pro Medium" panose="02040604050005020304" pitchFamily="18" charset="0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87B352-BFAD-5D8F-76D1-1D4FDE4CE64A}"/>
              </a:ext>
            </a:extLst>
          </p:cNvPr>
          <p:cNvSpPr txBox="1"/>
          <p:nvPr/>
        </p:nvSpPr>
        <p:spPr>
          <a:xfrm>
            <a:off x="334297" y="1637015"/>
            <a:ext cx="1026487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Cylindrical coordinates 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are the natural 3-dimensional extension of polar coordinates. They are particularly useful when a problem has circular symmetry around the z-axis, such as cylinders, cones, spheres, pipes, tanks, and rotational solids.</a:t>
            </a:r>
            <a:endParaRPr lang="en-US" sz="12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1380B3-7A02-98A2-7013-7430F894BA53}"/>
                  </a:ext>
                </a:extLst>
              </p:cNvPr>
              <p:cNvSpPr txBox="1"/>
              <p:nvPr/>
            </p:nvSpPr>
            <p:spPr>
              <a:xfrm>
                <a:off x="474406" y="3018664"/>
                <a:ext cx="1012476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 Cartesian coordinates, a point in 3D is represented by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Whereas, </a:t>
                </a: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 cylindrical coordinates, the same point is represented by</a:t>
                </a:r>
                <a:endParaRPr lang="en-US" sz="11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61380B3-7A02-98A2-7013-7430F894B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06" y="3018664"/>
                <a:ext cx="10124768" cy="646331"/>
              </a:xfrm>
              <a:prstGeom prst="rect">
                <a:avLst/>
              </a:prstGeom>
              <a:blipFill>
                <a:blip r:embed="rId3"/>
                <a:stretch>
                  <a:fillRect l="-542" t="-4717" r="-482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4330398-0044-5D36-FA66-198FCC9EF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558" y="3664995"/>
            <a:ext cx="1218615" cy="5510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3B2577-6A81-DE11-33CC-1B56D8203F86}"/>
                  </a:ext>
                </a:extLst>
              </p:cNvPr>
              <p:cNvSpPr txBox="1"/>
              <p:nvPr/>
            </p:nvSpPr>
            <p:spPr>
              <a:xfrm>
                <a:off x="5360956" y="3664995"/>
                <a:ext cx="6180804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where:</a:t>
                </a:r>
              </a:p>
              <a:p>
                <a:pPr marL="342900" marR="0" lvl="0" indent="-342900" algn="just">
                  <a:lnSpc>
                    <a:spcPct val="100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= perpendicular distance from the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-axis </a:t>
                </a:r>
              </a:p>
              <a:p>
                <a:pPr marL="342900" marR="0" lvl="0" indent="-342900" algn="just">
                  <a:lnSpc>
                    <a:spcPct val="100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𝜃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= angle measured counterclockwise from the positive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-axis in the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𝑥𝑦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-plane </a:t>
                </a:r>
              </a:p>
              <a:p>
                <a:pPr marL="342900" marR="0" lvl="0" indent="-342900" algn="just">
                  <a:lnSpc>
                    <a:spcPct val="100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= height above/below the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𝑥𝑦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-plane</a:t>
                </a:r>
                <a:endParaRPr lang="en-US" sz="11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73B2577-6A81-DE11-33CC-1B56D8203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956" y="3664995"/>
                <a:ext cx="6180804" cy="1785104"/>
              </a:xfrm>
              <a:prstGeom prst="rect">
                <a:avLst/>
              </a:prstGeom>
              <a:blipFill>
                <a:blip r:embed="rId5"/>
                <a:stretch>
                  <a:fillRect l="-789" t="-1706" r="-888" b="-4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23EC6B1-ADE8-91CE-8377-AB0713DBC535}"/>
              </a:ext>
            </a:extLst>
          </p:cNvPr>
          <p:cNvSpPr txBox="1"/>
          <p:nvPr/>
        </p:nvSpPr>
        <p:spPr>
          <a:xfrm>
            <a:off x="474406" y="5551756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Amasis MT Pro" panose="02040504050005020304" pitchFamily="18" charset="0"/>
                <a:ea typeface="Aptos" panose="020B0004020202020204" pitchFamily="34" charset="0"/>
              </a:rPr>
              <a:t>So cylindrical coordinates essentially combine:</a:t>
            </a:r>
            <a:endParaRPr lang="en-US" b="1" dirty="0">
              <a:latin typeface="Amasis MT Pro" panose="020405040500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6BEE70-A39B-E2E7-0948-2D89391D77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3883" y="5736422"/>
            <a:ext cx="4444181" cy="52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38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ACE63-9A8B-EA48-762A-705339EA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1D5DB42C-28A1-0C66-5D84-A53CBA8E5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AA77D5-A111-ABAF-D1E4-FB4B7BE5BCE6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1EF471-B869-3875-3D4B-176125816696}"/>
              </a:ext>
            </a:extLst>
          </p:cNvPr>
          <p:cNvSpPr txBox="1"/>
          <p:nvPr/>
        </p:nvSpPr>
        <p:spPr>
          <a:xfrm>
            <a:off x="264300" y="114258"/>
            <a:ext cx="94696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400" b="1" kern="100" dirty="0">
                <a:solidFill>
                  <a:schemeClr val="accent2"/>
                </a:solidFill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Conversion between Cartesian and cylindrical coordinates</a:t>
            </a:r>
          </a:p>
        </p:txBody>
      </p:sp>
      <p:pic>
        <p:nvPicPr>
          <p:cNvPr id="22" name="Picture 21" descr="Cylindrical Coordinates - Definition, Conversions, Examples">
            <a:extLst>
              <a:ext uri="{FF2B5EF4-FFF2-40B4-BE49-F238E27FC236}">
                <a16:creationId xmlns:a16="http://schemas.microsoft.com/office/drawing/2014/main" id="{0455D269-3257-3807-893B-DE70A186D4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54"/>
          <a:stretch>
            <a:fillRect/>
          </a:stretch>
        </p:blipFill>
        <p:spPr>
          <a:xfrm>
            <a:off x="1380262" y="2037124"/>
            <a:ext cx="2873477" cy="2498361"/>
          </a:xfrm>
          <a:prstGeom prst="rect">
            <a:avLst/>
          </a:prstGeom>
        </p:spPr>
      </p:pic>
      <p:pic>
        <p:nvPicPr>
          <p:cNvPr id="23" name="Picture 22" descr="8.2: Spherical and Cylindrical Coordinates - Mathematics LibreTexts">
            <a:extLst>
              <a:ext uri="{FF2B5EF4-FFF2-40B4-BE49-F238E27FC236}">
                <a16:creationId xmlns:a16="http://schemas.microsoft.com/office/drawing/2014/main" id="{621E6270-B357-0168-27AD-7B72927A1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389" y="2250561"/>
            <a:ext cx="5810250" cy="3114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4406D0-609B-0A0A-D72B-1EC4356D22B2}"/>
                  </a:ext>
                </a:extLst>
              </p:cNvPr>
              <p:cNvSpPr txBox="1"/>
              <p:nvPr/>
            </p:nvSpPr>
            <p:spPr>
              <a:xfrm>
                <a:off x="486697" y="772424"/>
                <a:ext cx="989616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From polar coordinates, 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</m:t>
                    </m:r>
                    <m:func>
                      <m:funcPr>
                        <m:ctrlPr>
                          <a:rPr lang="en-US" sz="18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func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</m:t>
                    </m:r>
                    <m:func>
                      <m:funcPr>
                        <m:ctrlPr>
                          <a:rPr lang="en-US" sz="18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func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br>
                  <a:rPr lang="en-US" sz="1800" i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-coordinate remains unchanged:</a:t>
                </a:r>
                <a:endParaRPr lang="en-US" sz="11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4406D0-609B-0A0A-D72B-1EC4356D2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97" y="772424"/>
                <a:ext cx="9896168" cy="646331"/>
              </a:xfrm>
              <a:prstGeom prst="rect">
                <a:avLst/>
              </a:prstGeom>
              <a:blipFill>
                <a:blip r:embed="rId5"/>
                <a:stretch>
                  <a:fillRect l="-555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E659562-C646-5BB2-2366-6E964C4DFA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697" y="1440736"/>
            <a:ext cx="4889307" cy="6436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E898CD-780E-E079-FEAD-8F6466EAD0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0162" y="4499342"/>
            <a:ext cx="1600200" cy="5486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C214F9-C628-3A91-9CFA-547EE35DDF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592" y="5104844"/>
            <a:ext cx="1577340" cy="624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C962D7-F117-CA89-09A8-1D2C632EDD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162" y="5786546"/>
            <a:ext cx="2095500" cy="47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444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F9CF6-381D-66D0-5A75-54A35834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7EAB76BC-5A65-40D4-2B04-DEDD42B9F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36C64B0-50BF-1681-3137-AD0AB158C15F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0CFF4-F132-E28C-1088-00FFE9C24840}"/>
              </a:ext>
            </a:extLst>
          </p:cNvPr>
          <p:cNvSpPr txBox="1"/>
          <p:nvPr/>
        </p:nvSpPr>
        <p:spPr>
          <a:xfrm>
            <a:off x="264300" y="114258"/>
            <a:ext cx="43371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400" b="1" kern="100" dirty="0">
                <a:solidFill>
                  <a:schemeClr val="accent2"/>
                </a:solidFill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F8ABF-A0DE-F709-976C-618310CD769C}"/>
              </a:ext>
            </a:extLst>
          </p:cNvPr>
          <p:cNvSpPr txBox="1"/>
          <p:nvPr/>
        </p:nvSpPr>
        <p:spPr>
          <a:xfrm>
            <a:off x="1922206" y="206591"/>
            <a:ext cx="761508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Find the volume of the solid using cylindrical coordinates.</a:t>
            </a:r>
            <a:endParaRPr lang="en-US" sz="12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C02280-BAB6-7963-5750-D68DB5981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662" y="699034"/>
            <a:ext cx="3232905" cy="4673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579DD6-AFFC-3B5E-0FBB-750BD9464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7162" y="1493244"/>
            <a:ext cx="3281108" cy="9058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1F0C6A-780D-9F90-5925-8BDF6F71B6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844212"/>
            <a:ext cx="4310702" cy="274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96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9A97F-A8A9-6936-9F46-912C53893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0DB6778E-8E04-1C21-81DC-A50CA8FB5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8273651-0931-5343-80E5-30734E83DF6F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F7EAE4-EAEE-A0D4-B82E-D7635F470A7C}"/>
              </a:ext>
            </a:extLst>
          </p:cNvPr>
          <p:cNvSpPr txBox="1"/>
          <p:nvPr/>
        </p:nvSpPr>
        <p:spPr>
          <a:xfrm>
            <a:off x="264300" y="114258"/>
            <a:ext cx="43371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400" b="1" kern="100" dirty="0">
                <a:solidFill>
                  <a:schemeClr val="accent2"/>
                </a:solidFill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90675-6E42-C307-16BD-7D532246A1D3}"/>
                  </a:ext>
                </a:extLst>
              </p:cNvPr>
              <p:cNvSpPr txBox="1"/>
              <p:nvPr/>
            </p:nvSpPr>
            <p:spPr>
              <a:xfrm>
                <a:off x="1774722" y="212264"/>
                <a:ext cx="630739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Find the volume enclosed by  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kern="1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and </a:t>
                </a:r>
                <a:r>
                  <a:rPr lang="en-US" sz="2000" i="1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2000" kern="100" baseline="300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2 </a:t>
                </a:r>
                <a:r>
                  <a:rPr lang="en-US" sz="20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+ </a:t>
                </a:r>
                <a:r>
                  <a:rPr lang="en-US" sz="2000" i="1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y</a:t>
                </a:r>
                <a:r>
                  <a:rPr lang="en-US" sz="2000" kern="100" baseline="300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sz="2000" kern="100" dirty="0">
                    <a:effectLst/>
                    <a:ea typeface="Aptos" panose="020B0004020202020204" pitchFamily="34" charset="0"/>
                    <a:cs typeface="Times New Roman" panose="02020603050405020304" pitchFamily="18" charset="0"/>
                  </a:rPr>
                  <a:t> = 4</a:t>
                </a:r>
                <a:endParaRPr lang="en-US" sz="12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890675-6E42-C307-16BD-7D532246A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4722" y="212264"/>
                <a:ext cx="6307394" cy="400110"/>
              </a:xfrm>
              <a:prstGeom prst="rect">
                <a:avLst/>
              </a:prstGeom>
              <a:blipFill>
                <a:blip r:embed="rId3"/>
                <a:stretch>
                  <a:fillRect l="-966" t="-9231" r="-290" b="-30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D91892F-FF37-3074-EA05-00C46F5C8ACF}"/>
              </a:ext>
            </a:extLst>
          </p:cNvPr>
          <p:cNvSpPr txBox="1"/>
          <p:nvPr/>
        </p:nvSpPr>
        <p:spPr>
          <a:xfrm>
            <a:off x="1774722" y="1127941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Amasis MT Pro" panose="02040504050005020304" pitchFamily="18" charset="0"/>
              </a:rPr>
              <a:t>Convert the surfaces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5981F6-ABB7-C06B-5D01-780A2B7F12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7816" y="1127941"/>
            <a:ext cx="1625599" cy="4673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313588-496D-AE40-852B-9FED35CBA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644" y="1533848"/>
            <a:ext cx="800169" cy="3962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58F5D11-9C25-4538-20C6-1DB1EC530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5703" y="2012839"/>
            <a:ext cx="781765" cy="4673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1B81525-7329-BD0E-A6DE-93DB446A8C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5148" y="1152815"/>
            <a:ext cx="1272650" cy="11583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49A3535-9CAB-97B3-D028-098D6F9B76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4031" y="2882241"/>
            <a:ext cx="3072520" cy="94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073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6DEDA-81E6-4B77-BDD9-581F7F031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76D228D8-ADDB-AE1D-C464-C5C37057C6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991030-7255-C387-80DE-F814C0436FF8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1631DE-828C-9703-252D-8D8EF8C844CF}"/>
              </a:ext>
            </a:extLst>
          </p:cNvPr>
          <p:cNvSpPr txBox="1"/>
          <p:nvPr/>
        </p:nvSpPr>
        <p:spPr>
          <a:xfrm>
            <a:off x="264300" y="114258"/>
            <a:ext cx="43371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400" b="1" kern="100" dirty="0">
                <a:solidFill>
                  <a:schemeClr val="accent2"/>
                </a:solidFill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05C3CB-F6BB-71C8-2519-09F3D690C16A}"/>
                  </a:ext>
                </a:extLst>
              </p:cNvPr>
              <p:cNvSpPr txBox="1"/>
              <p:nvPr/>
            </p:nvSpPr>
            <p:spPr>
              <a:xfrm>
                <a:off x="1981199" y="212264"/>
                <a:ext cx="8283677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Find the volume inside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18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≤4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 between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 Z = 3</a:t>
                </a:r>
                <a:endParaRPr lang="en-US" sz="11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105C3CB-F6BB-71C8-2519-09F3D690C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199" y="212264"/>
                <a:ext cx="8283677" cy="375552"/>
              </a:xfrm>
              <a:prstGeom prst="rect">
                <a:avLst/>
              </a:prstGeom>
              <a:blipFill>
                <a:blip r:embed="rId3"/>
                <a:stretch>
                  <a:fillRect l="-589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ABD2CAD9-D050-21B6-B0A8-46CCECB7E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477" y="1010751"/>
            <a:ext cx="3017782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13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238B5-9D30-F6A1-6FBC-5DC400D17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F3465C76-26EA-1C19-A8A0-DE177EB9F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719786-13BD-D5CA-AA5D-13C1629151E1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F5503-B00E-E4CD-9AD0-D1020B6E16DB}"/>
              </a:ext>
            </a:extLst>
          </p:cNvPr>
          <p:cNvSpPr txBox="1"/>
          <p:nvPr/>
        </p:nvSpPr>
        <p:spPr>
          <a:xfrm>
            <a:off x="264300" y="114258"/>
            <a:ext cx="10708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800" b="1" kern="100" dirty="0">
                <a:solidFill>
                  <a:schemeClr val="accent2"/>
                </a:solidFill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Jacobian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CB28B65-E29A-47D6-23E4-3DD8CD3E6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5275" y="4896272"/>
            <a:ext cx="734887" cy="3062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4BA4A2-C723-1E48-960A-C553BE822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01" y="1194619"/>
            <a:ext cx="1522880" cy="1386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F1F57D-02FF-013E-F7E5-24E155AA27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2552" y="1194618"/>
            <a:ext cx="1568246" cy="71283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87A7DB-631F-B564-0C0E-4D2A7A842CD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6005" t="998"/>
          <a:stretch>
            <a:fillRect/>
          </a:stretch>
        </p:blipFill>
        <p:spPr>
          <a:xfrm>
            <a:off x="4660799" y="718822"/>
            <a:ext cx="1789162" cy="16956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E74F94-F338-1B55-A96B-D294A9E0A7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9117" y="736028"/>
            <a:ext cx="1371719" cy="164606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76FD9E3-B7A0-3CD3-4550-FFB05B8BC0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95933" y="774132"/>
            <a:ext cx="1272650" cy="160795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7958B36-C611-131B-3EDE-04C519948C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122" y="2597892"/>
            <a:ext cx="2745805" cy="89948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3F6A867-30A0-2420-13B5-BC200D9DDD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0122" y="3679207"/>
            <a:ext cx="2436016" cy="64767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9AAAAA4-F82E-27D2-E7FE-56B7535213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0122" y="4420511"/>
            <a:ext cx="2318844" cy="36090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ABB26ACD-27B5-9259-B4E9-51BDA43953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7073" y="5449672"/>
            <a:ext cx="2977012" cy="64767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74C07E8-307E-3ED8-277F-8CD7B3CF75A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72922" y="5663382"/>
            <a:ext cx="1007505" cy="30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76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1F152-B45C-2CD8-9C9A-B8DF3FBE4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FE76662C-80EF-8BEE-3F87-CAB11BBB1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AAA54E-7666-4EEF-61FD-0A21DE7F45EC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F7DE59-40C7-3224-626C-1B8F672D1768}"/>
              </a:ext>
            </a:extLst>
          </p:cNvPr>
          <p:cNvSpPr txBox="1"/>
          <p:nvPr/>
        </p:nvSpPr>
        <p:spPr>
          <a:xfrm>
            <a:off x="264300" y="114258"/>
            <a:ext cx="43371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400" b="1" kern="100" dirty="0">
                <a:solidFill>
                  <a:schemeClr val="accent2"/>
                </a:solidFill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Spherical coordinate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AE9FC-F492-5467-4C73-5E4D633EF1CC}"/>
              </a:ext>
            </a:extLst>
          </p:cNvPr>
          <p:cNvSpPr txBox="1"/>
          <p:nvPr/>
        </p:nvSpPr>
        <p:spPr>
          <a:xfrm>
            <a:off x="373625" y="756621"/>
            <a:ext cx="668575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Amasis MT Pro" panose="02040504050005020304" pitchFamily="18" charset="0"/>
              </a:rPr>
              <a:t>Spherical coordinates specify the location of a point in three-dimensional space using </a:t>
            </a:r>
            <a:r>
              <a:rPr lang="en-US" sz="2000" b="1" dirty="0">
                <a:latin typeface="Amasis MT Pro" panose="02040504050005020304" pitchFamily="18" charset="0"/>
              </a:rPr>
              <a:t>one distance and two angles</a:t>
            </a:r>
            <a:r>
              <a:rPr lang="en-US" sz="2000" dirty="0">
                <a:latin typeface="Amasis MT Pro" panose="02040504050005020304" pitchFamily="18" charset="0"/>
              </a:rPr>
              <a:t>: </a:t>
            </a:r>
            <a:r>
              <a:rPr lang="en-US" sz="2000" b="1" dirty="0">
                <a:solidFill>
                  <a:srgbClr val="0070C0"/>
                </a:solidFill>
                <a:latin typeface="Amasis MT Pro" panose="02040504050005020304" pitchFamily="18" charset="0"/>
              </a:rPr>
              <a:t>radial distance </a:t>
            </a:r>
            <a:r>
              <a:rPr lang="en-US" sz="2000" dirty="0">
                <a:latin typeface="Amasis MT Pro" panose="02040504050005020304" pitchFamily="18" charset="0"/>
              </a:rPr>
              <a:t>(ρ), </a:t>
            </a:r>
            <a:r>
              <a:rPr lang="en-US" sz="2000" b="1" dirty="0">
                <a:solidFill>
                  <a:srgbClr val="00B050"/>
                </a:solidFill>
                <a:latin typeface="Amasis MT Pro" panose="02040504050005020304" pitchFamily="18" charset="0"/>
              </a:rPr>
              <a:t>azimuth angle (θ)</a:t>
            </a:r>
            <a:r>
              <a:rPr lang="en-US" sz="2000" dirty="0">
                <a:latin typeface="Amasis MT Pro" panose="02040504050005020304" pitchFamily="18" charset="0"/>
              </a:rPr>
              <a:t>, and </a:t>
            </a:r>
            <a:r>
              <a:rPr lang="en-US" sz="2000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polar/zenith angle (φ)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810CB9-DE0C-2111-0972-3CF5DA3140C0}"/>
                  </a:ext>
                </a:extLst>
              </p:cNvPr>
              <p:cNvSpPr txBox="1"/>
              <p:nvPr/>
            </p:nvSpPr>
            <p:spPr>
              <a:xfrm>
                <a:off x="264300" y="2340325"/>
                <a:ext cx="5018555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 Cartesian coordinates, a point is  </a:t>
                </a:r>
                <a14:m>
                  <m:oMath xmlns:m="http://schemas.openxmlformats.org/officeDocument/2006/math">
                    <m:r>
                      <a:rPr lang="en-US" sz="1800" b="1" i="1" kern="100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𝑷</m:t>
                    </m:r>
                    <m:d>
                      <m:dPr>
                        <m:sepChr m:val=","/>
                        <m:ctrlPr>
                          <a:rPr lang="en-US" sz="18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e>
                        <m:r>
                          <a:rPr lang="en-US" sz="18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e>
                        <m:r>
                          <a:rPr lang="en-US" sz="1800" b="1" i="1" kern="10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𝒛</m:t>
                        </m:r>
                      </m:e>
                    </m:d>
                    <m:r>
                      <a:rPr lang="en-US" sz="1800" b="1" i="1" kern="10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1800" kern="100" dirty="0">
                    <a:solidFill>
                      <a:srgbClr val="00B050"/>
                    </a:solidFill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 spherical coordinates, the same point is represented by  </a:t>
                </a:r>
                <a:r>
                  <a:rPr lang="en-US" sz="1800" b="1" i="1" kern="100" dirty="0">
                    <a:solidFill>
                      <a:schemeClr val="accent2"/>
                    </a:solidFill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</a:t>
                </a:r>
                <a:r>
                  <a:rPr lang="en-US" sz="1800" b="1" kern="100" dirty="0">
                    <a:solidFill>
                      <a:schemeClr val="accent2"/>
                    </a:solidFill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 </m:t>
                    </m:r>
                    <m:r>
                      <a:rPr lang="en-US" sz="1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𝝆</m:t>
                    </m:r>
                    <m:r>
                      <a:rPr lang="en-US" sz="1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sz="1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1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𝝋</m:t>
                    </m:r>
                    <m:r>
                      <a:rPr lang="en-US" sz="1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)</m:t>
                    </m:r>
                  </m:oMath>
                </a14:m>
                <a:r>
                  <a:rPr lang="en-US" sz="1100" b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3810CB9-DE0C-2111-0972-3CF5DA314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00" y="2340325"/>
                <a:ext cx="5018555" cy="923330"/>
              </a:xfrm>
              <a:prstGeom prst="rect">
                <a:avLst/>
              </a:prstGeom>
              <a:blipFill>
                <a:blip r:embed="rId4"/>
                <a:stretch>
                  <a:fillRect l="-971" t="-3974" r="-971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20C904E-317D-1D5A-3DE9-94720B379628}"/>
                  </a:ext>
                </a:extLst>
              </p:cNvPr>
              <p:cNvSpPr txBox="1"/>
              <p:nvPr/>
            </p:nvSpPr>
            <p:spPr>
              <a:xfrm>
                <a:off x="369522" y="3429000"/>
                <a:ext cx="5018555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where:</a:t>
                </a:r>
                <a:endParaRPr lang="en-US" sz="18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sz="1800" b="1" i="1" kern="100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𝝆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= distance of the point from the origin </a:t>
                </a: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sz="1800" b="1" i="1" kern="100" smtClean="0">
                        <a:solidFill>
                          <a:srgbClr val="0070C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𝜽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= azimuthal angle in the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𝑥𝑦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-plane, measured from the positive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-axis </a:t>
                </a:r>
              </a:p>
              <a:p>
                <a:pPr marL="342900" marR="0" lvl="0" indent="-342900">
                  <a:lnSpc>
                    <a:spcPct val="100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en-US" sz="1800" b="1" i="1" kern="100" smtClean="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𝝓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= polar angle measured downward from the positive </a:t>
                </a:r>
                <a14:m>
                  <m:oMath xmlns:m="http://schemas.openxmlformats.org/officeDocument/2006/math">
                    <m:r>
                      <a:rPr lang="en-US" sz="18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sz="18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-axis</a:t>
                </a:r>
                <a:endParaRPr lang="en-US" sz="11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20C904E-317D-1D5A-3DE9-94720B379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22" y="3429000"/>
                <a:ext cx="5018555" cy="2062103"/>
              </a:xfrm>
              <a:prstGeom prst="rect">
                <a:avLst/>
              </a:prstGeom>
              <a:blipFill>
                <a:blip r:embed="rId6"/>
                <a:stretch>
                  <a:fillRect l="-1094" t="-1775" r="-1823" b="-3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7E2415-B573-9244-AB35-5382A69428DF}"/>
                  </a:ext>
                </a:extLst>
              </p:cNvPr>
              <p:cNvSpPr txBox="1"/>
              <p:nvPr/>
            </p:nvSpPr>
            <p:spPr>
              <a:xfrm>
                <a:off x="543093" y="5656448"/>
                <a:ext cx="396991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≥0,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,   0≤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7E2415-B573-9244-AB35-5382A6942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93" y="5656448"/>
                <a:ext cx="3969913" cy="276999"/>
              </a:xfrm>
              <a:prstGeom prst="rect">
                <a:avLst/>
              </a:prstGeom>
              <a:blipFill>
                <a:blip r:embed="rId7"/>
                <a:stretch>
                  <a:fillRect l="-30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Spherical coordinates - Math Insight">
            <a:extLst>
              <a:ext uri="{FF2B5EF4-FFF2-40B4-BE49-F238E27FC236}">
                <a16:creationId xmlns:a16="http://schemas.microsoft.com/office/drawing/2014/main" id="{EB1F2C74-DC2B-7D83-614C-EDF8B16D89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5700" y="3165987"/>
            <a:ext cx="2528243" cy="2767460"/>
          </a:xfrm>
          <a:prstGeom prst="rect">
            <a:avLst/>
          </a:prstGeom>
        </p:spPr>
      </p:pic>
      <p:pic>
        <p:nvPicPr>
          <p:cNvPr id="5" name="Picture 4" descr="Part 2: Spherical Coordinates">
            <a:extLst>
              <a:ext uri="{FF2B5EF4-FFF2-40B4-BE49-F238E27FC236}">
                <a16:creationId xmlns:a16="http://schemas.microsoft.com/office/drawing/2014/main" id="{EFBC1032-3113-AAFA-7258-45FD95C4A2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8522" y="575923"/>
            <a:ext cx="3234046" cy="379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1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F3132-A3B7-7A1E-66BA-AFDAAB17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AA287D53-0CF8-4C6C-C782-1DEE6F0C0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68F8C5-2F81-8BFF-7898-D3C613C92B7D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10AE74-28DB-679F-E9B1-DDD27C0E6D3F}"/>
                  </a:ext>
                </a:extLst>
              </p:cNvPr>
              <p:cNvSpPr txBox="1"/>
              <p:nvPr/>
            </p:nvSpPr>
            <p:spPr>
              <a:xfrm>
                <a:off x="264300" y="114258"/>
                <a:ext cx="10708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:r>
                  <a:rPr lang="en-US" sz="2800" b="1" kern="100" dirty="0">
                    <a:solidFill>
                      <a:schemeClr val="accent2"/>
                    </a:solidFill>
                    <a:effectLst/>
                    <a:latin typeface="Amasis MT Pro Medium" panose="020406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Polar Coordinates  </a:t>
                </a:r>
                <a14:m>
                  <m:oMath xmlns:m="http://schemas.openxmlformats.org/officeDocument/2006/math"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𝒓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𝜽</m:t>
                    </m:r>
                    <m:r>
                      <a:rPr lang="en-US" sz="2800" b="1" i="1" kern="100">
                        <a:solidFill>
                          <a:schemeClr val="accent2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800" kern="100" dirty="0">
                  <a:solidFill>
                    <a:schemeClr val="accent2"/>
                  </a:solidFill>
                  <a:effectLst/>
                  <a:latin typeface="Amasis MT Pro Medium" panose="020406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670743-C825-482C-C80B-BF6CCC5BD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300" y="114258"/>
                <a:ext cx="10708500" cy="523220"/>
              </a:xfrm>
              <a:prstGeom prst="rect">
                <a:avLst/>
              </a:prstGeom>
              <a:blipFill>
                <a:blip r:embed="rId3"/>
                <a:stretch>
                  <a:fillRect l="-113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4979E2-909B-DA36-4779-59AF51517C2C}"/>
                  </a:ext>
                </a:extLst>
              </p:cNvPr>
              <p:cNvSpPr txBox="1"/>
              <p:nvPr/>
            </p:nvSpPr>
            <p:spPr>
              <a:xfrm>
                <a:off x="703007" y="1115484"/>
                <a:ext cx="10466438" cy="24519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For a point 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sepChr m:val=","/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e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draw the line 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𝑂𝑃</m:t>
                    </m:r>
                  </m:oMath>
                </a14:m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from the origin. 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Then </a:t>
                </a: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</a:t>
                </a:r>
                <a:r>
                  <a:rPr lang="en-US" sz="2000" kern="100" dirty="0"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is the distance from the origin.</a:t>
                </a: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endParaRPr lang="en-US" sz="20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800"/>
                  </a:spcAft>
                </a:pP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projection of 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onto the 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𝑥𝑦</m:t>
                    </m:r>
                  </m:oMath>
                </a14:m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-plane has polar coordinates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e>
                        <m:r>
                          <m:rPr>
                            <m:nor/>
                          </m:rPr>
                          <a:rPr lang="en-US" sz="2000" kern="100" dirty="0">
                            <a:latin typeface="Amasis MT Pro" panose="020405040500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</m:d>
                  </m:oMath>
                </a14:m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 We have</a:t>
                </a: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𝜌</m:t>
                    </m:r>
                    <m:func>
                      <m:funcPr>
                        <m:ctrl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0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func>
                  </m:oMath>
                </a14:m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and  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𝜌</m:t>
                    </m:r>
                    <m:func>
                      <m:funcPr>
                        <m:ctrl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0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</m:e>
                    </m:func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2000" i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Since  </a:t>
                </a:r>
                <a:r>
                  <a:rPr lang="en-US" sz="2000" i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x</a:t>
                </a: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i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</a:t>
                </a: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kern="100" dirty="0" err="1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cosθ</a:t>
                </a: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:r>
                  <a:rPr lang="en-US" sz="2000" i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y</a:t>
                </a: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= </a:t>
                </a:r>
                <a:r>
                  <a:rPr lang="en-US" sz="2000" i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r </a:t>
                </a:r>
                <a:r>
                  <a:rPr lang="en-US" sz="2000" kern="100" dirty="0" err="1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sinθ</a:t>
                </a: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we obtain </a:t>
                </a: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endParaRPr lang="en-US" sz="20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4979E2-909B-DA36-4779-59AF51517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007" y="1115484"/>
                <a:ext cx="10466438" cy="2451953"/>
              </a:xfrm>
              <a:prstGeom prst="rect">
                <a:avLst/>
              </a:prstGeom>
              <a:blipFill>
                <a:blip r:embed="rId4"/>
                <a:stretch>
                  <a:fillRect l="-582" t="-1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EC4BCFF-8C48-5EDB-ACCA-A18300022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514" y="1524605"/>
            <a:ext cx="2669529" cy="33369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462357-3386-4B2A-60AC-EDF7E45CF01E}"/>
                  </a:ext>
                </a:extLst>
              </p:cNvPr>
              <p:cNvSpPr txBox="1"/>
              <p:nvPr/>
            </p:nvSpPr>
            <p:spPr>
              <a:xfrm>
                <a:off x="3539613" y="3132738"/>
                <a:ext cx="5466734" cy="15835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kern="100" dirty="0">
                    <a:effectLst/>
                    <a:latin typeface="+mn-lt"/>
                    <a:ea typeface="Aptos" panose="020B000402020202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borderBox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𝜌</m:t>
                          </m:r>
                          <m:func>
                            <m:funcPr>
                              <m:ctrl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  <m:r>
                                <a:rPr lang="en-US" b="0" i="1" kern="100" smtClean="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𝑐𝑜𝑠</m:t>
                              </m:r>
                            </m:e>
                          </m:func>
                          <m:r>
                            <a:rPr lang="en-US" i="1" kern="10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borderBox>
                    </m:oMath>
                    <m:oMath>
                      <m:borderBox>
                        <m:borderBox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borderBox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𝜌</m:t>
                          </m:r>
                          <m:func>
                            <m:funcPr>
                              <m:ctrl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borderBox>
                    </m:oMath>
                    <m:oMath>
                      <m:borderBox>
                        <m:borderBoxPr>
                          <m:ctrlP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borderBoxPr>
                        <m:e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𝑧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18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𝜌</m:t>
                          </m:r>
                          <m:func>
                            <m:funcPr>
                              <m:ctrl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8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i="1" kern="100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𝜙</m:t>
                              </m:r>
                            </m:e>
                          </m:func>
                        </m:e>
                      </m:borderBox>
                      <m:r>
                        <a:rPr lang="en-US" sz="18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.</m:t>
                      </m:r>
                    </m:oMath>
                  </m:oMathPara>
                </a14:m>
                <a:br>
                  <a:rPr lang="en-US" sz="1800" i="1" kern="100" dirty="0">
                    <a:effectLst/>
                    <a:latin typeface="+mn-lt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endParaRPr lang="en-US" sz="1800" kern="100" dirty="0">
                  <a:effectLst/>
                  <a:latin typeface="+mn-lt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462357-3386-4B2A-60AC-EDF7E45CF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613" y="3132738"/>
                <a:ext cx="5466734" cy="15835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9A394EB-76F7-5580-2CB0-900B98C88BB6}"/>
              </a:ext>
            </a:extLst>
          </p:cNvPr>
          <p:cNvSpPr txBox="1"/>
          <p:nvPr/>
        </p:nvSpPr>
        <p:spPr>
          <a:xfrm>
            <a:off x="845575" y="5159914"/>
            <a:ext cx="97634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effectLst/>
                <a:latin typeface="Amasis MT Pro" panose="02040504050005020304" pitchFamily="18" charset="0"/>
                <a:ea typeface="Aptos" panose="020B0004020202020204" pitchFamily="34" charset="0"/>
              </a:rPr>
              <a:t>These are the fundamental spherical-coordinate transformation</a:t>
            </a:r>
            <a:endParaRPr lang="en-US" sz="2000" b="1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1387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DBA49-12AB-853C-6734-C979317A0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FA61CEF0-FC65-AB7F-E22D-3E6A668AB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738DD40-6896-C2FD-BA3C-89BAEF1FBDD3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14345-C013-0010-2F70-8AF4DEA9A9BC}"/>
              </a:ext>
            </a:extLst>
          </p:cNvPr>
          <p:cNvSpPr txBox="1"/>
          <p:nvPr/>
        </p:nvSpPr>
        <p:spPr>
          <a:xfrm>
            <a:off x="427324" y="146597"/>
            <a:ext cx="4671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US" sz="2800" b="1" kern="100" dirty="0">
                <a:solidFill>
                  <a:schemeClr val="accent2"/>
                </a:solidFill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Jacobian </a:t>
            </a:r>
            <a:endParaRPr lang="en-US" sz="2800" kern="100" dirty="0">
              <a:solidFill>
                <a:schemeClr val="accent2"/>
              </a:solidFill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0504F2-0B99-8AF0-2535-C33F583A062F}"/>
                  </a:ext>
                </a:extLst>
              </p:cNvPr>
              <p:cNvSpPr txBox="1"/>
              <p:nvPr/>
            </p:nvSpPr>
            <p:spPr>
              <a:xfrm>
                <a:off x="413367" y="1006463"/>
                <a:ext cx="8150529" cy="2117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 Cartesian coordinates,</a:t>
                </a:r>
                <a:r>
                  <a:rPr lang="en-US" sz="2000" i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𝑑𝑥</m:t>
                    </m:r>
                    <m:r>
                      <m:rPr>
                        <m:nor/>
                      </m:rPr>
                      <a:rPr lang="en-US" sz="2000" i="1" kern="100">
                        <a:effectLst/>
                        <a:latin typeface="Amasis MT Pro" panose="020405040500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 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𝑑𝑦</m:t>
                    </m:r>
                    <m:r>
                      <m:rPr>
                        <m:nor/>
                      </m:rPr>
                      <a:rPr lang="en-US" sz="2000" i="1" kern="100">
                        <a:effectLst/>
                        <a:latin typeface="Amasis MT Pro" panose="020405040500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 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𝑑𝑧</m:t>
                    </m:r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b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endParaRPr lang="en-US" sz="20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In spherical coordinates</a:t>
                </a:r>
                <a:r>
                  <a:rPr lang="en-US" sz="2000" i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borderBoxPr>
                      <m:e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𝑑𝑉</m:t>
                        </m:r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𝑠𝑖𝑛</m:t>
                            </m:r>
                          </m:fName>
                          <m:e>
                            <m: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</m:func>
                        <m:r>
                          <m:rPr>
                            <m:nor/>
                          </m:rPr>
                          <a:rPr lang="en-US" sz="2000" i="1" kern="100">
                            <a:effectLst/>
                            <a:latin typeface="Amasis MT Pro" panose="020405040500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 </m:t>
                        </m:r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𝜌</m:t>
                        </m:r>
                        <m:r>
                          <m:rPr>
                            <m:nor/>
                          </m:rPr>
                          <a:rPr lang="en-US" sz="2000" i="1" kern="100">
                            <a:effectLst/>
                            <a:latin typeface="Amasis MT Pro" panose="020405040500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 </m:t>
                        </m:r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𝜙</m:t>
                        </m:r>
                        <m:r>
                          <m:rPr>
                            <m:nor/>
                          </m:rPr>
                          <a:rPr lang="en-US" sz="2000" i="1" kern="100">
                            <a:effectLst/>
                            <a:latin typeface="Amasis MT Pro" panose="020405040500050203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 </m:t>
                        </m:r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</m:borderBox>
                    <m:r>
                      <a:rPr lang="en-US" sz="2000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b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</a:br>
                <a:endParaRPr lang="en-US" sz="20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The factor    </a:t>
                </a:r>
                <a14:m>
                  <m:oMath xmlns:m="http://schemas.openxmlformats.org/officeDocument/2006/math">
                    <m:borderBox>
                      <m:borderBoxPr>
                        <m:ctrlPr>
                          <a:rPr lang="en-US" sz="20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borderBoxPr>
                      <m:e>
                        <m:sSup>
                          <m:sSupPr>
                            <m:ctrlP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𝜌</m:t>
                            </m:r>
                          </m:e>
                          <m:sup>
                            <m: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𝑠𝑖𝑛</m:t>
                            </m:r>
                          </m:fName>
                          <m:e>
                            <m:r>
                              <a:rPr lang="en-US" sz="2000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𝜙</m:t>
                            </m:r>
                          </m:e>
                        </m:func>
                      </m:e>
                    </m:borderBox>
                  </m:oMath>
                </a14:m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is the </a:t>
                </a:r>
                <a:r>
                  <a:rPr lang="en-US" sz="2000" b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Jacobian</a:t>
                </a:r>
                <a:r>
                  <a:rPr lang="en-US" sz="20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  <a:endParaRPr lang="en-US" sz="12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D0504F2-0B99-8AF0-2535-C33F583A0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67" y="1006463"/>
                <a:ext cx="8150529" cy="2117503"/>
              </a:xfrm>
              <a:prstGeom prst="rect">
                <a:avLst/>
              </a:prstGeom>
              <a:blipFill>
                <a:blip r:embed="rId3"/>
                <a:stretch>
                  <a:fillRect l="-823" t="-1441" b="-1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D3E52C8-BA45-0A10-5A82-5DDC0B42E0D4}"/>
              </a:ext>
            </a:extLst>
          </p:cNvPr>
          <p:cNvSpPr txBox="1"/>
          <p:nvPr/>
        </p:nvSpPr>
        <p:spPr>
          <a:xfrm>
            <a:off x="427324" y="3322682"/>
            <a:ext cx="6105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Derivation of the Jacobian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039DBC-220F-8B9E-7391-EC4848D137F9}"/>
              </a:ext>
            </a:extLst>
          </p:cNvPr>
          <p:cNvSpPr txBox="1"/>
          <p:nvPr/>
        </p:nvSpPr>
        <p:spPr>
          <a:xfrm>
            <a:off x="427324" y="3751825"/>
            <a:ext cx="1519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latin typeface="Amasis MT Pro" panose="02040504050005020304" pitchFamily="18" charset="0"/>
              </a:rPr>
              <a:t>We have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19F360-7593-D190-9301-5C1DE413F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073" y="3751825"/>
            <a:ext cx="1947720" cy="14091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17E85AD-85DB-1655-DAF2-3D8C449BF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111" y="5393449"/>
            <a:ext cx="1409822" cy="58679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B524847-25EE-272B-D814-C51E827270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029" y="3751825"/>
            <a:ext cx="1981372" cy="175275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E26EE9D-143D-E86B-D413-5F3F54DF8C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9475" y="309282"/>
            <a:ext cx="1600339" cy="182895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C5BC809-36E0-60EB-A6E7-2A4908FD0A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6396" y="309282"/>
            <a:ext cx="1409822" cy="176799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A0824B4-1270-459C-F0C3-6D063052D7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4132" y="2561520"/>
            <a:ext cx="4191363" cy="87637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1BC8DBA-3BF4-BAD4-8C6B-295B7A0EEE6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3767" y="3608211"/>
            <a:ext cx="1310754" cy="381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D893A1D-3DA2-08B6-A556-8F5A97EACCF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19113" y="4211754"/>
            <a:ext cx="2149026" cy="43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28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378F-8C12-495A-E8D9-B424307CB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31B884C5-E6C6-137F-FFA5-8C49DD491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AB51A70-43A0-1F93-A314-A3AD16B586A6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7E73A-F22A-30CF-7F2D-BE4D55EA557C}"/>
              </a:ext>
            </a:extLst>
          </p:cNvPr>
          <p:cNvSpPr txBox="1"/>
          <p:nvPr/>
        </p:nvSpPr>
        <p:spPr>
          <a:xfrm>
            <a:off x="417870" y="114258"/>
            <a:ext cx="75855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Problem</a:t>
            </a:r>
            <a:r>
              <a:rPr lang="en-US" sz="2000" b="1" dirty="0">
                <a:latin typeface="Amasis MT Pro" panose="02040504050005020304" pitchFamily="18" charset="0"/>
              </a:rPr>
              <a:t>   </a:t>
            </a:r>
            <a:r>
              <a:rPr lang="en-US" sz="2000" dirty="0">
                <a:latin typeface="Amasis MT Pro" panose="02040504050005020304" pitchFamily="18" charset="0"/>
              </a:rPr>
              <a:t>Use spherical coordinates to find the volume of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471B75-5854-94DE-65AF-FFC740932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994" y="740477"/>
            <a:ext cx="1760373" cy="3429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549140-E49D-3E2F-22CF-AC052641EA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94" y="1309516"/>
            <a:ext cx="1295512" cy="3200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CCDD25-6E8F-5E0D-64F3-28770A59C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149" y="1629584"/>
            <a:ext cx="1181202" cy="76206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73042B2-C383-9C57-9F51-4A680D3643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994" y="2576598"/>
            <a:ext cx="3177815" cy="73920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2833FA5-93EA-2A1F-CDD3-7EB454C188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149" y="3293679"/>
            <a:ext cx="1120237" cy="73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362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3288</TotalTime>
  <Words>841</Words>
  <Application>Microsoft Office PowerPoint</Application>
  <PresentationFormat>Widescreen</PresentationFormat>
  <Paragraphs>80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Amasis MT Pro</vt:lpstr>
      <vt:lpstr>Amasis MT Pro Black</vt:lpstr>
      <vt:lpstr>Amasis MT Pro Medium</vt:lpstr>
      <vt:lpstr>Aptos</vt:lpstr>
      <vt:lpstr>Aptos Display</vt:lpstr>
      <vt:lpstr>Arial</vt:lpstr>
      <vt:lpstr>Cambria Math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Jashodhan Saha</dc:creator>
  <cp:lastModifiedBy>Jashodhan Saha</cp:lastModifiedBy>
  <cp:revision>16</cp:revision>
  <dcterms:created xsi:type="dcterms:W3CDTF">2026-09-08T11:25:15Z</dcterms:created>
  <dcterms:modified xsi:type="dcterms:W3CDTF">2026-09-16T17:05:26Z</dcterms:modified>
</cp:coreProperties>
</file>